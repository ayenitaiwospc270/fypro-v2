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5.png"/><Relationship Id="rId7" Type="http://schemas.openxmlformats.org/officeDocument/2006/relationships/image" Target="../media/image-4-5.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image" Target="../media/image-9-2.png"/><Relationship Id="rId4" Type="http://schemas.openxmlformats.org/officeDocument/2006/relationships/image" Target="../media/image-9-2.png"/><Relationship Id="rId5" Type="http://schemas.openxmlformats.org/officeDocument/2006/relationships/image" Target="../media/image-9-2.png"/><Relationship Id="rId6" Type="http://schemas.openxmlformats.org/officeDocument/2006/relationships/image" Target="../media/image-9-2.png"/><Relationship Id="rId7" Type="http://schemas.openxmlformats.org/officeDocument/2006/relationships/image" Target="../media/image-9-2.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cover.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01 / 10</a:t>
            </a:r>
            <a:endParaRPr lang="en-US" sz="1000" dirty="0"/>
          </a:p>
        </p:txBody>
      </p:sp>
      <p:pic>
        <p:nvPicPr>
          <p:cNvPr id="5" name="Image 1" descr="/tmp/claude-0/-home-user-FYpro-v2/2a4cd0f7-edb5-5afc-9ccc-ff84acfd346e/scratchpad/pptx-build/icons/shield-blue-512.png">    </p:cNvPr>
          <p:cNvPicPr>
            <a:picLocks noChangeAspect="1"/>
          </p:cNvPicPr>
          <p:nvPr/>
        </p:nvPicPr>
        <p:blipFill>
          <a:blip r:embed="rId2"/>
          <a:stretch>
            <a:fillRect/>
          </a:stretch>
        </p:blipFill>
        <p:spPr>
          <a:xfrm>
            <a:off x="5839816" y="777240"/>
            <a:ext cx="512064" cy="512064"/>
          </a:xfrm>
          <a:prstGeom prst="rect">
            <a:avLst/>
          </a:prstGeom>
        </p:spPr>
      </p:pic>
      <p:pic>
        <p:nvPicPr>
          <p:cNvPr id="6" name="Image 2" descr="/tmp/claude-0/-home-user-FYpro-v2/2a4cd0f7-edb5-5afc-9ccc-ff84acfd346e/scratchpad/pptx-build/icons/fypro-logo-light.png">    </p:cNvPr>
          <p:cNvPicPr>
            <a:picLocks noChangeAspect="1"/>
          </p:cNvPicPr>
          <p:nvPr/>
        </p:nvPicPr>
        <p:blipFill>
          <a:blip r:embed="rId3"/>
          <a:stretch>
            <a:fillRect/>
          </a:stretch>
        </p:blipFill>
        <p:spPr>
          <a:xfrm>
            <a:off x="4678528" y="1417320"/>
            <a:ext cx="2834640" cy="879653"/>
          </a:xfrm>
          <a:prstGeom prst="rect">
            <a:avLst/>
          </a:prstGeom>
        </p:spPr>
      </p:pic>
      <p:sp>
        <p:nvSpPr>
          <p:cNvPr id="7" name="Text 2"/>
          <p:cNvSpPr/>
          <p:nvPr/>
        </p:nvSpPr>
        <p:spPr>
          <a:xfrm>
            <a:off x="1371600" y="2606040"/>
            <a:ext cx="9448495" cy="1371600"/>
          </a:xfrm>
          <a:prstGeom prst="rect">
            <a:avLst/>
          </a:prstGeom>
          <a:noFill/>
          <a:ln/>
        </p:spPr>
        <p:txBody>
          <a:bodyPr wrap="square" lIns="0" tIns="0" rIns="0" bIns="0" rtlCol="0" anchor="t"/>
          <a:lstStyle/>
          <a:p>
            <a:pPr algn="ctr" indent="0" marL="0">
              <a:lnSpc>
                <a:spcPts val="5000"/>
              </a:lnSpc>
              <a:buNone/>
            </a:pPr>
            <a:r>
              <a:rPr lang="en-US" sz="4600" dirty="0">
                <a:solidFill>
                  <a:srgbClr val="0D1B2A"/>
                </a:solidFill>
                <a:latin typeface="DM Serif Display" pitchFamily="34" charset="0"/>
                <a:ea typeface="DM Serif Display" pitchFamily="34" charset="-122"/>
                <a:cs typeface="DM Serif Display" pitchFamily="34" charset="-120"/>
              </a:rPr>
              <a:t>Your </a:t>
            </a:r>
            <a:pPr algn="ctr" indent="0" marL="0">
              <a:lnSpc>
                <a:spcPts val="5000"/>
              </a:lnSpc>
              <a:buNone/>
            </a:pPr>
            <a:r>
              <a:rPr lang="en-US" sz="4600" dirty="0">
                <a:solidFill>
                  <a:srgbClr val="0066FF"/>
                </a:solidFill>
                <a:latin typeface="DM Serif Display" pitchFamily="34" charset="0"/>
                <a:ea typeface="DM Serif Display" pitchFamily="34" charset="-122"/>
                <a:cs typeface="DM Serif Display" pitchFamily="34" charset="-120"/>
              </a:rPr>
              <a:t>Final Year</a:t>
            </a:r>
            <a:pPr algn="ctr" indent="0" marL="0">
              <a:lnSpc>
                <a:spcPts val="5000"/>
              </a:lnSpc>
              <a:buNone/>
            </a:pPr>
            <a:r>
              <a:rPr lang="en-US" sz="4600" dirty="0">
                <a:solidFill>
                  <a:srgbClr val="0D1B2A"/>
                </a:solidFill>
                <a:latin typeface="DM Serif Display" pitchFamily="34" charset="0"/>
                <a:ea typeface="DM Serif Display" pitchFamily="34" charset="-122"/>
                <a:cs typeface="DM Serif Display" pitchFamily="34" charset="-120"/>
              </a:rPr>
              <a:t> Companion</a:t>
            </a:r>
            <a:endParaRPr lang="en-US" sz="4600" dirty="0"/>
          </a:p>
        </p:txBody>
      </p:sp>
      <p:sp>
        <p:nvSpPr>
          <p:cNvPr id="8" name="Text 3"/>
          <p:cNvSpPr/>
          <p:nvPr/>
        </p:nvSpPr>
        <p:spPr>
          <a:xfrm>
            <a:off x="2255368" y="3977640"/>
            <a:ext cx="7680960" cy="777240"/>
          </a:xfrm>
          <a:prstGeom prst="rect">
            <a:avLst/>
          </a:prstGeom>
          <a:noFill/>
          <a:ln/>
        </p:spPr>
        <p:txBody>
          <a:bodyPr wrap="square" lIns="0" tIns="0" rIns="0" bIns="0" rtlCol="0" anchor="t"/>
          <a:lstStyle/>
          <a:p>
            <a:pPr algn="ctr" indent="0" marL="0">
              <a:lnSpc>
                <a:spcPts val="2100"/>
              </a:lnSpc>
              <a:buNone/>
            </a:pPr>
            <a:r>
              <a:rPr lang="en-US" sz="1450" dirty="0">
                <a:solidFill>
                  <a:srgbClr val="636D78"/>
                </a:solidFill>
                <a:latin typeface="Poppins" pitchFamily="34" charset="0"/>
                <a:ea typeface="Poppins" pitchFamily="34" charset="-122"/>
                <a:cs typeface="Poppins" pitchFamily="34" charset="-120"/>
              </a:rPr>
              <a:t>An AI-powered research companion that walks Nigerian final year students from a raw topic idea to a defense they're genuinely ready for.</a:t>
            </a:r>
            <a:endParaRPr lang="en-US" sz="1450" dirty="0"/>
          </a:p>
        </p:txBody>
      </p:sp>
      <p:sp>
        <p:nvSpPr>
          <p:cNvPr id="9" name="Shape 4"/>
          <p:cNvSpPr/>
          <p:nvPr/>
        </p:nvSpPr>
        <p:spPr>
          <a:xfrm>
            <a:off x="4884268" y="4892040"/>
            <a:ext cx="2423160" cy="365760"/>
          </a:xfrm>
          <a:prstGeom prst="roundRect">
            <a:avLst>
              <a:gd name="adj" fmla="val 50000"/>
            </a:avLst>
          </a:prstGeom>
          <a:solidFill>
            <a:srgbClr val="F0FFF4"/>
          </a:solidFill>
          <a:ln w="12700">
            <a:solidFill>
              <a:srgbClr val="BEE9CC"/>
            </a:solidFill>
            <a:prstDash val="solid"/>
          </a:ln>
        </p:spPr>
      </p:sp>
      <p:sp>
        <p:nvSpPr>
          <p:cNvPr id="10" name="Text 5"/>
          <p:cNvSpPr/>
          <p:nvPr/>
        </p:nvSpPr>
        <p:spPr>
          <a:xfrm>
            <a:off x="4884268" y="4892040"/>
            <a:ext cx="2423160" cy="365760"/>
          </a:xfrm>
          <a:prstGeom prst="rect">
            <a:avLst/>
          </a:prstGeom>
          <a:noFill/>
          <a:ln/>
        </p:spPr>
        <p:txBody>
          <a:bodyPr wrap="square" lIns="0" tIns="0" rIns="0" bIns="0" rtlCol="0" anchor="ctr"/>
          <a:lstStyle/>
          <a:p>
            <a:pPr algn="ctr" indent="0" marL="0">
              <a:buNone/>
            </a:pPr>
            <a:r>
              <a:rPr lang="en-US" sz="1050" b="1" dirty="0">
                <a:solidFill>
                  <a:srgbClr val="16A34A"/>
                </a:solidFill>
                <a:latin typeface="JetBrains Mono" pitchFamily="34" charset="0"/>
                <a:ea typeface="JetBrains Mono" pitchFamily="34" charset="-122"/>
                <a:cs typeface="JetBrains Mono" pitchFamily="34" charset="-120"/>
              </a:rPr>
              <a:t>●  LIVE SINCE JUNE 2026</a:t>
            </a:r>
            <a:endParaRPr lang="en-US" sz="1050" dirty="0"/>
          </a:p>
        </p:txBody>
      </p:sp>
      <p:sp>
        <p:nvSpPr>
          <p:cNvPr id="11" name="Text 6"/>
          <p:cNvSpPr/>
          <p:nvPr/>
        </p:nvSpPr>
        <p:spPr>
          <a:xfrm>
            <a:off x="0" y="6263640"/>
            <a:ext cx="12191695" cy="320040"/>
          </a:xfrm>
          <a:prstGeom prst="rect">
            <a:avLst/>
          </a:prstGeom>
          <a:noFill/>
          <a:ln/>
        </p:spPr>
        <p:txBody>
          <a:bodyPr wrap="square" lIns="0" tIns="0" rIns="0" bIns="0" rtlCol="0" anchor="ctr"/>
          <a:lstStyle/>
          <a:p>
            <a:pPr algn="ctr" indent="0" marL="0">
              <a:buNone/>
            </a:pPr>
            <a:r>
              <a:rPr lang="en-US" sz="1100" dirty="0">
                <a:solidFill>
                  <a:srgbClr val="9199A1"/>
                </a:solidFill>
                <a:latin typeface="JetBrains Mono" pitchFamily="34" charset="0"/>
                <a:ea typeface="JetBrains Mono" pitchFamily="34" charset="-122"/>
                <a:cs typeface="JetBrains Mono" pitchFamily="34" charset="-120"/>
              </a:rPr>
              <a:t>www.fypro.com.ng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problem.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02 / 10</a:t>
            </a:r>
            <a:endParaRPr lang="en-US" sz="1000" dirty="0"/>
          </a:p>
        </p:txBody>
      </p:sp>
      <p:sp>
        <p:nvSpPr>
          <p:cNvPr id="5" name="Text 2"/>
          <p:cNvSpPr/>
          <p:nvPr/>
        </p:nvSpPr>
        <p:spPr>
          <a:xfrm>
            <a:off x="640080" y="502920"/>
            <a:ext cx="5486400" cy="292608"/>
          </a:xfrm>
          <a:prstGeom prst="rect">
            <a:avLst/>
          </a:prstGeom>
          <a:noFill/>
          <a:ln/>
        </p:spPr>
        <p:txBody>
          <a:bodyPr wrap="square" lIns="0" tIns="0" rIns="0" bIns="0" rtlCol="0" anchor="ctr"/>
          <a:lstStyle/>
          <a:p>
            <a:pPr indent="0" marL="0">
              <a:buNone/>
            </a:pPr>
            <a:r>
              <a:rPr lang="en-US" sz="1100" spc="200" kern="0" dirty="0">
                <a:solidFill>
                  <a:srgbClr val="0066FF"/>
                </a:solidFill>
                <a:latin typeface="JetBrains Mono" pitchFamily="34" charset="0"/>
                <a:ea typeface="JetBrains Mono" pitchFamily="34" charset="-122"/>
                <a:cs typeface="JetBrains Mono" pitchFamily="34" charset="-120"/>
              </a:rPr>
              <a:t>THE PROBLEM</a:t>
            </a:r>
            <a:endParaRPr lang="en-US" sz="1100" dirty="0"/>
          </a:p>
        </p:txBody>
      </p:sp>
      <p:sp>
        <p:nvSpPr>
          <p:cNvPr id="6" name="Text 3"/>
          <p:cNvSpPr/>
          <p:nvPr/>
        </p:nvSpPr>
        <p:spPr>
          <a:xfrm>
            <a:off x="640080" y="822960"/>
            <a:ext cx="8686800" cy="1371600"/>
          </a:xfrm>
          <a:prstGeom prst="rect">
            <a:avLst/>
          </a:prstGeom>
          <a:noFill/>
          <a:ln/>
        </p:spPr>
        <p:txBody>
          <a:bodyPr wrap="square" lIns="0" tIns="0" rIns="0" bIns="0" rtlCol="0" anchor="ctr"/>
          <a:lstStyle/>
          <a:p>
            <a:pPr indent="0" marL="0">
              <a:lnSpc>
                <a:spcPts val="3400"/>
              </a:lnSpc>
              <a:buNone/>
            </a:pPr>
            <a:r>
              <a:rPr lang="en-US" sz="3000" dirty="0">
                <a:solidFill>
                  <a:srgbClr val="0D1B2A"/>
                </a:solidFill>
                <a:latin typeface="DM Serif Display" pitchFamily="34" charset="0"/>
                <a:ea typeface="DM Serif Display" pitchFamily="34" charset="-122"/>
                <a:cs typeface="DM Serif Display" pitchFamily="34" charset="-120"/>
              </a:rPr>
              <a:t>Final year projects break down</a:t>
            </a:r>
            <a:endParaRPr lang="en-US" sz="3000" dirty="0"/>
          </a:p>
          <a:p>
            <a:pPr indent="0" marL="0">
              <a:lnSpc>
                <a:spcPts val="3400"/>
              </a:lnSpc>
              <a:buNone/>
            </a:pPr>
            <a:r>
              <a:rPr lang="en-US" sz="3000" dirty="0">
                <a:solidFill>
                  <a:srgbClr val="0D1B2A"/>
                </a:solidFill>
                <a:latin typeface="DM Serif Display" pitchFamily="34" charset="0"/>
                <a:ea typeface="DM Serif Display" pitchFamily="34" charset="-122"/>
                <a:cs typeface="DM Serif Display" pitchFamily="34" charset="-120"/>
              </a:rPr>
              <a:t>the same way, every year.</a:t>
            </a:r>
            <a:endParaRPr lang="en-US" sz="3000" dirty="0"/>
          </a:p>
        </p:txBody>
      </p:sp>
      <p:sp>
        <p:nvSpPr>
          <p:cNvPr id="7" name="Text 4"/>
          <p:cNvSpPr/>
          <p:nvPr/>
        </p:nvSpPr>
        <p:spPr>
          <a:xfrm>
            <a:off x="640080" y="1965960"/>
            <a:ext cx="7863840" cy="502920"/>
          </a:xfrm>
          <a:prstGeom prst="rect">
            <a:avLst/>
          </a:prstGeom>
          <a:noFill/>
          <a:ln/>
        </p:spPr>
        <p:txBody>
          <a:bodyPr wrap="square" lIns="0" tIns="0" rIns="0" bIns="0" rtlCol="0" anchor="ctr"/>
          <a:lstStyle/>
          <a:p>
            <a:pPr indent="0" marL="0">
              <a:lnSpc>
                <a:spcPts val="1900"/>
              </a:lnSpc>
              <a:buNone/>
            </a:pPr>
            <a:r>
              <a:rPr lang="en-US" sz="1300" dirty="0">
                <a:solidFill>
                  <a:srgbClr val="636D78"/>
                </a:solidFill>
                <a:latin typeface="Poppins" pitchFamily="34" charset="0"/>
                <a:ea typeface="Poppins" pitchFamily="34" charset="-122"/>
                <a:cs typeface="Poppins" pitchFamily="34" charset="-120"/>
              </a:rPr>
              <a:t>Talk to enough final year students and the same pattern shows up, semester after semester.</a:t>
            </a:r>
            <a:endParaRPr lang="en-US" sz="1300" dirty="0"/>
          </a:p>
        </p:txBody>
      </p:sp>
      <p:sp>
        <p:nvSpPr>
          <p:cNvPr id="8" name="Shape 5"/>
          <p:cNvSpPr/>
          <p:nvPr/>
        </p:nvSpPr>
        <p:spPr>
          <a:xfrm>
            <a:off x="640080" y="2743200"/>
            <a:ext cx="5257800" cy="1572768"/>
          </a:xfrm>
          <a:prstGeom prst="roundRect">
            <a:avLst>
              <a:gd name="adj" fmla="val 5233"/>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9" name="Shape 6"/>
          <p:cNvSpPr/>
          <p:nvPr/>
        </p:nvSpPr>
        <p:spPr>
          <a:xfrm>
            <a:off x="813816" y="2916936"/>
            <a:ext cx="566928" cy="566928"/>
          </a:xfrm>
          <a:prstGeom prst="ellipse">
            <a:avLst/>
          </a:prstGeom>
          <a:solidFill>
            <a:srgbClr val="EFF6FF"/>
          </a:solidFill>
          <a:ln/>
        </p:spPr>
      </p:sp>
      <p:sp>
        <p:nvSpPr>
          <p:cNvPr id="10" name="Text 7"/>
          <p:cNvSpPr/>
          <p:nvPr/>
        </p:nvSpPr>
        <p:spPr>
          <a:xfrm>
            <a:off x="813816" y="2916936"/>
            <a:ext cx="566928" cy="566928"/>
          </a:xfrm>
          <a:prstGeom prst="rect">
            <a:avLst/>
          </a:prstGeom>
          <a:noFill/>
          <a:ln/>
        </p:spPr>
        <p:txBody>
          <a:bodyPr wrap="square" lIns="0" tIns="0" rIns="0" bIns="0" rtlCol="0" anchor="ctr"/>
          <a:lstStyle/>
          <a:p>
            <a:pPr algn="ctr" indent="0" marL="0">
              <a:buNone/>
            </a:pPr>
            <a:r>
              <a:rPr lang="en-US" sz="1200" b="1" dirty="0">
                <a:solidFill>
                  <a:srgbClr val="0066FF"/>
                </a:solidFill>
                <a:latin typeface="JetBrains Mono" pitchFamily="34" charset="0"/>
                <a:ea typeface="JetBrains Mono" pitchFamily="34" charset="-122"/>
                <a:cs typeface="JetBrains Mono" pitchFamily="34" charset="-120"/>
              </a:rPr>
              <a:t>01</a:t>
            </a:r>
            <a:endParaRPr lang="en-US" sz="1200" dirty="0"/>
          </a:p>
        </p:txBody>
      </p:sp>
      <p:sp>
        <p:nvSpPr>
          <p:cNvPr id="11" name="Text 8"/>
          <p:cNvSpPr/>
          <p:nvPr/>
        </p:nvSpPr>
        <p:spPr>
          <a:xfrm>
            <a:off x="1508760" y="2962656"/>
            <a:ext cx="4160520" cy="365760"/>
          </a:xfrm>
          <a:prstGeom prst="rect">
            <a:avLst/>
          </a:prstGeom>
          <a:noFill/>
          <a:ln/>
        </p:spPr>
        <p:txBody>
          <a:bodyPr wrap="square" lIns="0" tIns="0" rIns="0" bIns="0" rtlCol="0" anchor="ctr"/>
          <a:lstStyle/>
          <a:p>
            <a:pPr indent="0" marL="0">
              <a:buNone/>
            </a:pPr>
            <a:r>
              <a:rPr lang="en-US" sz="1350" dirty="0">
                <a:solidFill>
                  <a:srgbClr val="0D1B2A"/>
                </a:solidFill>
                <a:latin typeface="Poppins SemiBold" pitchFamily="34" charset="0"/>
                <a:ea typeface="Poppins SemiBold" pitchFamily="34" charset="-122"/>
                <a:cs typeface="Poppins SemiBold" pitchFamily="34" charset="-120"/>
              </a:rPr>
              <a:t>No clear starting point</a:t>
            </a:r>
            <a:endParaRPr lang="en-US" sz="1350" dirty="0"/>
          </a:p>
        </p:txBody>
      </p:sp>
      <p:sp>
        <p:nvSpPr>
          <p:cNvPr id="12" name="Text 9"/>
          <p:cNvSpPr/>
          <p:nvPr/>
        </p:nvSpPr>
        <p:spPr>
          <a:xfrm>
            <a:off x="932688" y="3584448"/>
            <a:ext cx="4672584" cy="640080"/>
          </a:xfrm>
          <a:prstGeom prst="rect">
            <a:avLst/>
          </a:prstGeom>
          <a:noFill/>
          <a:ln/>
        </p:spPr>
        <p:txBody>
          <a:bodyPr wrap="square" lIns="0" tIns="0" rIns="0" bIns="0" rtlCol="0" anchor="ctr"/>
          <a:lstStyle/>
          <a:p>
            <a:pPr indent="0" marL="0">
              <a:lnSpc>
                <a:spcPts val="1500"/>
              </a:lnSpc>
              <a:buNone/>
            </a:pPr>
            <a:r>
              <a:rPr lang="en-US" sz="1080" dirty="0">
                <a:solidFill>
                  <a:srgbClr val="636D78"/>
                </a:solidFill>
                <a:latin typeface="Poppins" pitchFamily="34" charset="0"/>
                <a:ea typeface="Poppins" pitchFamily="34" charset="-122"/>
                <a:cs typeface="Poppins" pitchFamily="34" charset="-120"/>
              </a:rPr>
              <a:t>Students don't know how to move from a vague idea to a topic that's actually validated for scope and originality.</a:t>
            </a:r>
            <a:endParaRPr lang="en-US" sz="1080" dirty="0"/>
          </a:p>
        </p:txBody>
      </p:sp>
      <p:sp>
        <p:nvSpPr>
          <p:cNvPr id="13" name="Shape 10"/>
          <p:cNvSpPr/>
          <p:nvPr/>
        </p:nvSpPr>
        <p:spPr>
          <a:xfrm>
            <a:off x="6172200" y="2743200"/>
            <a:ext cx="5257800" cy="1572768"/>
          </a:xfrm>
          <a:prstGeom prst="roundRect">
            <a:avLst>
              <a:gd name="adj" fmla="val 5233"/>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14" name="Shape 11"/>
          <p:cNvSpPr/>
          <p:nvPr/>
        </p:nvSpPr>
        <p:spPr>
          <a:xfrm>
            <a:off x="6345936" y="2916936"/>
            <a:ext cx="566928" cy="566928"/>
          </a:xfrm>
          <a:prstGeom prst="ellipse">
            <a:avLst/>
          </a:prstGeom>
          <a:solidFill>
            <a:srgbClr val="EFF6FF"/>
          </a:solidFill>
          <a:ln/>
        </p:spPr>
      </p:sp>
      <p:sp>
        <p:nvSpPr>
          <p:cNvPr id="15" name="Text 12"/>
          <p:cNvSpPr/>
          <p:nvPr/>
        </p:nvSpPr>
        <p:spPr>
          <a:xfrm>
            <a:off x="6345936" y="2916936"/>
            <a:ext cx="566928" cy="566928"/>
          </a:xfrm>
          <a:prstGeom prst="rect">
            <a:avLst/>
          </a:prstGeom>
          <a:noFill/>
          <a:ln/>
        </p:spPr>
        <p:txBody>
          <a:bodyPr wrap="square" lIns="0" tIns="0" rIns="0" bIns="0" rtlCol="0" anchor="ctr"/>
          <a:lstStyle/>
          <a:p>
            <a:pPr algn="ctr" indent="0" marL="0">
              <a:buNone/>
            </a:pPr>
            <a:r>
              <a:rPr lang="en-US" sz="1200" b="1" dirty="0">
                <a:solidFill>
                  <a:srgbClr val="0066FF"/>
                </a:solidFill>
                <a:latin typeface="JetBrains Mono" pitchFamily="34" charset="0"/>
                <a:ea typeface="JetBrains Mono" pitchFamily="34" charset="-122"/>
                <a:cs typeface="JetBrains Mono" pitchFamily="34" charset="-120"/>
              </a:rPr>
              <a:t>02</a:t>
            </a:r>
            <a:endParaRPr lang="en-US" sz="1200" dirty="0"/>
          </a:p>
        </p:txBody>
      </p:sp>
      <p:sp>
        <p:nvSpPr>
          <p:cNvPr id="16" name="Text 13"/>
          <p:cNvSpPr/>
          <p:nvPr/>
        </p:nvSpPr>
        <p:spPr>
          <a:xfrm>
            <a:off x="7040880" y="2962656"/>
            <a:ext cx="4160520" cy="365760"/>
          </a:xfrm>
          <a:prstGeom prst="rect">
            <a:avLst/>
          </a:prstGeom>
          <a:noFill/>
          <a:ln/>
        </p:spPr>
        <p:txBody>
          <a:bodyPr wrap="square" lIns="0" tIns="0" rIns="0" bIns="0" rtlCol="0" anchor="ctr"/>
          <a:lstStyle/>
          <a:p>
            <a:pPr indent="0" marL="0">
              <a:buNone/>
            </a:pPr>
            <a:r>
              <a:rPr lang="en-US" sz="1350" dirty="0">
                <a:solidFill>
                  <a:srgbClr val="0D1B2A"/>
                </a:solidFill>
                <a:latin typeface="Poppins SemiBold" pitchFamily="34" charset="0"/>
                <a:ea typeface="Poppins SemiBold" pitchFamily="34" charset="-122"/>
                <a:cs typeface="Poppins SemiBold" pitchFamily="34" charset="-120"/>
              </a:rPr>
              <a:t>Supervisor time is scarce</a:t>
            </a:r>
            <a:endParaRPr lang="en-US" sz="1350" dirty="0"/>
          </a:p>
        </p:txBody>
      </p:sp>
      <p:sp>
        <p:nvSpPr>
          <p:cNvPr id="17" name="Text 14"/>
          <p:cNvSpPr/>
          <p:nvPr/>
        </p:nvSpPr>
        <p:spPr>
          <a:xfrm>
            <a:off x="6464808" y="3584448"/>
            <a:ext cx="4672584" cy="640080"/>
          </a:xfrm>
          <a:prstGeom prst="rect">
            <a:avLst/>
          </a:prstGeom>
          <a:noFill/>
          <a:ln/>
        </p:spPr>
        <p:txBody>
          <a:bodyPr wrap="square" lIns="0" tIns="0" rIns="0" bIns="0" rtlCol="0" anchor="ctr"/>
          <a:lstStyle/>
          <a:p>
            <a:pPr indent="0" marL="0">
              <a:lnSpc>
                <a:spcPts val="1500"/>
              </a:lnSpc>
              <a:buNone/>
            </a:pPr>
            <a:r>
              <a:rPr lang="en-US" sz="1080" dirty="0">
                <a:solidFill>
                  <a:srgbClr val="636D78"/>
                </a:solidFill>
                <a:latin typeface="Poppins" pitchFamily="34" charset="0"/>
                <a:ea typeface="Poppins" pitchFamily="34" charset="-122"/>
                <a:cs typeface="Poppins" pitchFamily="34" charset="-120"/>
              </a:rPr>
              <a:t>Feedback can take weeks to arrive, and guidance is inconsistent from one meeting to the next.</a:t>
            </a:r>
            <a:endParaRPr lang="en-US" sz="1080" dirty="0"/>
          </a:p>
        </p:txBody>
      </p:sp>
      <p:sp>
        <p:nvSpPr>
          <p:cNvPr id="18" name="Shape 15"/>
          <p:cNvSpPr/>
          <p:nvPr/>
        </p:nvSpPr>
        <p:spPr>
          <a:xfrm>
            <a:off x="640080" y="4590288"/>
            <a:ext cx="5257800" cy="1572768"/>
          </a:xfrm>
          <a:prstGeom prst="roundRect">
            <a:avLst>
              <a:gd name="adj" fmla="val 5233"/>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19" name="Shape 16"/>
          <p:cNvSpPr/>
          <p:nvPr/>
        </p:nvSpPr>
        <p:spPr>
          <a:xfrm>
            <a:off x="813816" y="4764024"/>
            <a:ext cx="566928" cy="566928"/>
          </a:xfrm>
          <a:prstGeom prst="ellipse">
            <a:avLst/>
          </a:prstGeom>
          <a:solidFill>
            <a:srgbClr val="EFF6FF"/>
          </a:solidFill>
          <a:ln/>
        </p:spPr>
      </p:sp>
      <p:sp>
        <p:nvSpPr>
          <p:cNvPr id="20" name="Text 17"/>
          <p:cNvSpPr/>
          <p:nvPr/>
        </p:nvSpPr>
        <p:spPr>
          <a:xfrm>
            <a:off x="813816" y="4764024"/>
            <a:ext cx="566928" cy="566928"/>
          </a:xfrm>
          <a:prstGeom prst="rect">
            <a:avLst/>
          </a:prstGeom>
          <a:noFill/>
          <a:ln/>
        </p:spPr>
        <p:txBody>
          <a:bodyPr wrap="square" lIns="0" tIns="0" rIns="0" bIns="0" rtlCol="0" anchor="ctr"/>
          <a:lstStyle/>
          <a:p>
            <a:pPr algn="ctr" indent="0" marL="0">
              <a:buNone/>
            </a:pPr>
            <a:r>
              <a:rPr lang="en-US" sz="1200" b="1" dirty="0">
                <a:solidFill>
                  <a:srgbClr val="0066FF"/>
                </a:solidFill>
                <a:latin typeface="JetBrains Mono" pitchFamily="34" charset="0"/>
                <a:ea typeface="JetBrains Mono" pitchFamily="34" charset="-122"/>
                <a:cs typeface="JetBrains Mono" pitchFamily="34" charset="-120"/>
              </a:rPr>
              <a:t>03</a:t>
            </a:r>
            <a:endParaRPr lang="en-US" sz="1200" dirty="0"/>
          </a:p>
        </p:txBody>
      </p:sp>
      <p:sp>
        <p:nvSpPr>
          <p:cNvPr id="21" name="Text 18"/>
          <p:cNvSpPr/>
          <p:nvPr/>
        </p:nvSpPr>
        <p:spPr>
          <a:xfrm>
            <a:off x="1508760" y="4809744"/>
            <a:ext cx="4160520" cy="365760"/>
          </a:xfrm>
          <a:prstGeom prst="rect">
            <a:avLst/>
          </a:prstGeom>
          <a:noFill/>
          <a:ln/>
        </p:spPr>
        <p:txBody>
          <a:bodyPr wrap="square" lIns="0" tIns="0" rIns="0" bIns="0" rtlCol="0" anchor="ctr"/>
          <a:lstStyle/>
          <a:p>
            <a:pPr indent="0" marL="0">
              <a:buNone/>
            </a:pPr>
            <a:r>
              <a:rPr lang="en-US" sz="1350" dirty="0">
                <a:solidFill>
                  <a:srgbClr val="0D1B2A"/>
                </a:solidFill>
                <a:latin typeface="Poppins SemiBold" pitchFamily="34" charset="0"/>
                <a:ea typeface="Poppins SemiBold" pitchFamily="34" charset="-122"/>
                <a:cs typeface="Poppins SemiBold" pitchFamily="34" charset="-120"/>
              </a:rPr>
              <a:t>Each chapter is a different skill</a:t>
            </a:r>
            <a:endParaRPr lang="en-US" sz="1350" dirty="0"/>
          </a:p>
        </p:txBody>
      </p:sp>
      <p:sp>
        <p:nvSpPr>
          <p:cNvPr id="22" name="Text 19"/>
          <p:cNvSpPr/>
          <p:nvPr/>
        </p:nvSpPr>
        <p:spPr>
          <a:xfrm>
            <a:off x="932688" y="5431536"/>
            <a:ext cx="4672584" cy="640080"/>
          </a:xfrm>
          <a:prstGeom prst="rect">
            <a:avLst/>
          </a:prstGeom>
          <a:noFill/>
          <a:ln/>
        </p:spPr>
        <p:txBody>
          <a:bodyPr wrap="square" lIns="0" tIns="0" rIns="0" bIns="0" rtlCol="0" anchor="ctr"/>
          <a:lstStyle/>
          <a:p>
            <a:pPr indent="0" marL="0">
              <a:lnSpc>
                <a:spcPts val="1500"/>
              </a:lnSpc>
              <a:buNone/>
            </a:pPr>
            <a:r>
              <a:rPr lang="en-US" sz="1080" dirty="0">
                <a:solidFill>
                  <a:srgbClr val="636D78"/>
                </a:solidFill>
                <a:latin typeface="Poppins" pitchFamily="34" charset="0"/>
                <a:ea typeface="Poppins" pitchFamily="34" charset="-122"/>
                <a:cs typeface="Poppins" pitchFamily="34" charset="-120"/>
              </a:rPr>
              <a:t>Literature review, methodology, and instrument design are rarely taught step-by-step — students guess.</a:t>
            </a:r>
            <a:endParaRPr lang="en-US" sz="1080" dirty="0"/>
          </a:p>
        </p:txBody>
      </p:sp>
      <p:sp>
        <p:nvSpPr>
          <p:cNvPr id="23" name="Shape 20"/>
          <p:cNvSpPr/>
          <p:nvPr/>
        </p:nvSpPr>
        <p:spPr>
          <a:xfrm>
            <a:off x="6172200" y="4590288"/>
            <a:ext cx="5257800" cy="1572768"/>
          </a:xfrm>
          <a:prstGeom prst="roundRect">
            <a:avLst>
              <a:gd name="adj" fmla="val 5233"/>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24" name="Shape 21"/>
          <p:cNvSpPr/>
          <p:nvPr/>
        </p:nvSpPr>
        <p:spPr>
          <a:xfrm>
            <a:off x="6345936" y="4764024"/>
            <a:ext cx="566928" cy="566928"/>
          </a:xfrm>
          <a:prstGeom prst="ellipse">
            <a:avLst/>
          </a:prstGeom>
          <a:solidFill>
            <a:srgbClr val="EFF6FF"/>
          </a:solidFill>
          <a:ln/>
        </p:spPr>
      </p:sp>
      <p:sp>
        <p:nvSpPr>
          <p:cNvPr id="25" name="Text 22"/>
          <p:cNvSpPr/>
          <p:nvPr/>
        </p:nvSpPr>
        <p:spPr>
          <a:xfrm>
            <a:off x="6345936" y="4764024"/>
            <a:ext cx="566928" cy="566928"/>
          </a:xfrm>
          <a:prstGeom prst="rect">
            <a:avLst/>
          </a:prstGeom>
          <a:noFill/>
          <a:ln/>
        </p:spPr>
        <p:txBody>
          <a:bodyPr wrap="square" lIns="0" tIns="0" rIns="0" bIns="0" rtlCol="0" anchor="ctr"/>
          <a:lstStyle/>
          <a:p>
            <a:pPr algn="ctr" indent="0" marL="0">
              <a:buNone/>
            </a:pPr>
            <a:r>
              <a:rPr lang="en-US" sz="1200" b="1" dirty="0">
                <a:solidFill>
                  <a:srgbClr val="0066FF"/>
                </a:solidFill>
                <a:latin typeface="JetBrains Mono" pitchFamily="34" charset="0"/>
                <a:ea typeface="JetBrains Mono" pitchFamily="34" charset="-122"/>
                <a:cs typeface="JetBrains Mono" pitchFamily="34" charset="-120"/>
              </a:rPr>
              <a:t>04</a:t>
            </a:r>
            <a:endParaRPr lang="en-US" sz="1200" dirty="0"/>
          </a:p>
        </p:txBody>
      </p:sp>
      <p:sp>
        <p:nvSpPr>
          <p:cNvPr id="26" name="Text 23"/>
          <p:cNvSpPr/>
          <p:nvPr/>
        </p:nvSpPr>
        <p:spPr>
          <a:xfrm>
            <a:off x="7040880" y="4809744"/>
            <a:ext cx="4160520" cy="365760"/>
          </a:xfrm>
          <a:prstGeom prst="rect">
            <a:avLst/>
          </a:prstGeom>
          <a:noFill/>
          <a:ln/>
        </p:spPr>
        <p:txBody>
          <a:bodyPr wrap="square" lIns="0" tIns="0" rIns="0" bIns="0" rtlCol="0" anchor="ctr"/>
          <a:lstStyle/>
          <a:p>
            <a:pPr indent="0" marL="0">
              <a:buNone/>
            </a:pPr>
            <a:r>
              <a:rPr lang="en-US" sz="1350" dirty="0">
                <a:solidFill>
                  <a:srgbClr val="0D1B2A"/>
                </a:solidFill>
                <a:latin typeface="Poppins SemiBold" pitchFamily="34" charset="0"/>
                <a:ea typeface="Poppins SemiBold" pitchFamily="34" charset="-122"/>
                <a:cs typeface="Poppins SemiBold" pitchFamily="34" charset="-120"/>
              </a:rPr>
              <a:t>Defense day has no rehearsal</a:t>
            </a:r>
            <a:endParaRPr lang="en-US" sz="1350" dirty="0"/>
          </a:p>
        </p:txBody>
      </p:sp>
      <p:sp>
        <p:nvSpPr>
          <p:cNvPr id="27" name="Text 24"/>
          <p:cNvSpPr/>
          <p:nvPr/>
        </p:nvSpPr>
        <p:spPr>
          <a:xfrm>
            <a:off x="6464808" y="5431536"/>
            <a:ext cx="4672584" cy="640080"/>
          </a:xfrm>
          <a:prstGeom prst="rect">
            <a:avLst/>
          </a:prstGeom>
          <a:noFill/>
          <a:ln/>
        </p:spPr>
        <p:txBody>
          <a:bodyPr wrap="square" lIns="0" tIns="0" rIns="0" bIns="0" rtlCol="0" anchor="ctr"/>
          <a:lstStyle/>
          <a:p>
            <a:pPr indent="0" marL="0">
              <a:lnSpc>
                <a:spcPts val="1500"/>
              </a:lnSpc>
              <a:buNone/>
            </a:pPr>
            <a:r>
              <a:rPr lang="en-US" sz="1080" dirty="0">
                <a:solidFill>
                  <a:srgbClr val="636D78"/>
                </a:solidFill>
                <a:latin typeface="Poppins" pitchFamily="34" charset="0"/>
                <a:ea typeface="Poppins" pitchFamily="34" charset="-122"/>
                <a:cs typeface="Poppins" pitchFamily="34" charset="-120"/>
              </a:rPr>
              <a:t>Most students face real examiner questions for the very first time, in the exam room itself.</a:t>
            </a:r>
            <a:endParaRPr lang="en-US" sz="10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why.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03 / 10</a:t>
            </a:r>
            <a:endParaRPr lang="en-US" sz="1000" dirty="0"/>
          </a:p>
        </p:txBody>
      </p:sp>
      <p:sp>
        <p:nvSpPr>
          <p:cNvPr id="5" name="Text 2"/>
          <p:cNvSpPr/>
          <p:nvPr/>
        </p:nvSpPr>
        <p:spPr>
          <a:xfrm>
            <a:off x="640080" y="548640"/>
            <a:ext cx="5486400" cy="292608"/>
          </a:xfrm>
          <a:prstGeom prst="rect">
            <a:avLst/>
          </a:prstGeom>
          <a:noFill/>
          <a:ln/>
        </p:spPr>
        <p:txBody>
          <a:bodyPr wrap="square" lIns="0" tIns="0" rIns="0" bIns="0" rtlCol="0" anchor="ctr"/>
          <a:lstStyle/>
          <a:p>
            <a:pPr indent="0" marL="0">
              <a:buNone/>
            </a:pPr>
            <a:r>
              <a:rPr lang="en-US" sz="1100" spc="200" kern="0" dirty="0">
                <a:solidFill>
                  <a:srgbClr val="0066FF"/>
                </a:solidFill>
                <a:latin typeface="JetBrains Mono" pitchFamily="34" charset="0"/>
                <a:ea typeface="JetBrains Mono" pitchFamily="34" charset="-122"/>
                <a:cs typeface="JetBrains Mono" pitchFamily="34" charset="-120"/>
              </a:rPr>
              <a:t>WHY IT WAS BUILT</a:t>
            </a:r>
            <a:endParaRPr lang="en-US" sz="1100" dirty="0"/>
          </a:p>
        </p:txBody>
      </p:sp>
      <p:sp>
        <p:nvSpPr>
          <p:cNvPr id="6" name="Text 3"/>
          <p:cNvSpPr/>
          <p:nvPr/>
        </p:nvSpPr>
        <p:spPr>
          <a:xfrm>
            <a:off x="640080" y="914400"/>
            <a:ext cx="6035040" cy="1463040"/>
          </a:xfrm>
          <a:prstGeom prst="rect">
            <a:avLst/>
          </a:prstGeom>
          <a:noFill/>
          <a:ln/>
        </p:spPr>
        <p:txBody>
          <a:bodyPr wrap="square" lIns="0" tIns="0" rIns="0" bIns="0" rtlCol="0" anchor="ctr"/>
          <a:lstStyle/>
          <a:p>
            <a:pPr indent="0" marL="0">
              <a:lnSpc>
                <a:spcPts val="3400"/>
              </a:lnSpc>
              <a:buNone/>
            </a:pPr>
            <a:r>
              <a:rPr lang="en-US" sz="3000" dirty="0">
                <a:solidFill>
                  <a:srgbClr val="0D1B2A"/>
                </a:solidFill>
                <a:latin typeface="DM Serif Display" pitchFamily="34" charset="0"/>
                <a:ea typeface="DM Serif Display" pitchFamily="34" charset="-122"/>
                <a:cs typeface="DM Serif Display" pitchFamily="34" charset="-120"/>
              </a:rPr>
              <a:t>Built after watching</a:t>
            </a:r>
            <a:endParaRPr lang="en-US" sz="3000" dirty="0"/>
          </a:p>
          <a:p>
            <a:pPr indent="0" marL="0">
              <a:lnSpc>
                <a:spcPts val="3400"/>
              </a:lnSpc>
              <a:buNone/>
            </a:pPr>
            <a:r>
              <a:rPr lang="en-US" sz="3000" dirty="0">
                <a:solidFill>
                  <a:srgbClr val="0D1B2A"/>
                </a:solidFill>
                <a:latin typeface="DM Serif Display" pitchFamily="34" charset="0"/>
                <a:ea typeface="DM Serif Display" pitchFamily="34" charset="-122"/>
                <a:cs typeface="DM Serif Display" pitchFamily="34" charset="-120"/>
              </a:rPr>
              <a:t>that pattern repeat.</a:t>
            </a:r>
            <a:endParaRPr lang="en-US" sz="3000" dirty="0"/>
          </a:p>
        </p:txBody>
      </p:sp>
      <p:sp>
        <p:nvSpPr>
          <p:cNvPr id="7" name="Text 4"/>
          <p:cNvSpPr/>
          <p:nvPr/>
        </p:nvSpPr>
        <p:spPr>
          <a:xfrm>
            <a:off x="640080" y="2606040"/>
            <a:ext cx="5943600" cy="1417320"/>
          </a:xfrm>
          <a:prstGeom prst="rect">
            <a:avLst/>
          </a:prstGeom>
          <a:noFill/>
          <a:ln/>
        </p:spPr>
        <p:txBody>
          <a:bodyPr wrap="square" lIns="0" tIns="0" rIns="0" bIns="0" rtlCol="0" anchor="ctr"/>
          <a:lstStyle/>
          <a:p>
            <a:pPr indent="0" marL="0">
              <a:lnSpc>
                <a:spcPts val="1900"/>
              </a:lnSpc>
              <a:buNone/>
            </a:pPr>
            <a:r>
              <a:rPr lang="en-US" sz="1250" dirty="0">
                <a:solidFill>
                  <a:srgbClr val="636D78"/>
                </a:solidFill>
                <a:latin typeface="Poppins" pitchFamily="34" charset="0"/>
                <a:ea typeface="Poppins" pitchFamily="34" charset="-122"/>
                <a:cs typeface="Poppins" pitchFamily="34" charset="-120"/>
              </a:rPr>
              <a:t>FYPro started from a simple observation: students weren't struggling because their research was weak — they were struggling because the process around it was unclear, and support was hard to reach exactly when they needed it.</a:t>
            </a:r>
            <a:endParaRPr lang="en-US" sz="1250" dirty="0"/>
          </a:p>
        </p:txBody>
      </p:sp>
      <p:sp>
        <p:nvSpPr>
          <p:cNvPr id="8" name="Text 5"/>
          <p:cNvSpPr/>
          <p:nvPr/>
        </p:nvSpPr>
        <p:spPr>
          <a:xfrm>
            <a:off x="640080" y="4160520"/>
            <a:ext cx="5943600" cy="1097280"/>
          </a:xfrm>
          <a:prstGeom prst="rect">
            <a:avLst/>
          </a:prstGeom>
          <a:noFill/>
          <a:ln/>
        </p:spPr>
        <p:txBody>
          <a:bodyPr wrap="square" lIns="0" tIns="0" rIns="0" bIns="0" rtlCol="0" anchor="ctr"/>
          <a:lstStyle/>
          <a:p>
            <a:pPr indent="0" marL="0">
              <a:lnSpc>
                <a:spcPts val="1900"/>
              </a:lnSpc>
              <a:buNone/>
            </a:pPr>
            <a:r>
              <a:rPr lang="en-US" sz="1250" dirty="0">
                <a:solidFill>
                  <a:srgbClr val="636D78"/>
                </a:solidFill>
                <a:latin typeface="Poppins" pitchFamily="34" charset="0"/>
                <a:ea typeface="Poppins" pitchFamily="34" charset="-122"/>
                <a:cs typeface="Poppins" pitchFamily="34" charset="-120"/>
              </a:rPr>
              <a:t>FYPro was built to put a structured, patient guide beside every student — from the first topic idea to the last question in the defense room.</a:t>
            </a:r>
            <a:endParaRPr lang="en-US" sz="1250" dirty="0"/>
          </a:p>
        </p:txBody>
      </p:sp>
      <p:sp>
        <p:nvSpPr>
          <p:cNvPr id="9" name="Shape 6"/>
          <p:cNvSpPr/>
          <p:nvPr/>
        </p:nvSpPr>
        <p:spPr>
          <a:xfrm>
            <a:off x="7178040" y="1920240"/>
            <a:ext cx="4343400" cy="2377440"/>
          </a:xfrm>
          <a:prstGeom prst="roundRect">
            <a:avLst>
              <a:gd name="adj" fmla="val 4615"/>
            </a:avLst>
          </a:prstGeom>
          <a:solidFill>
            <a:srgbClr val="EFF6FF"/>
          </a:solidFill>
          <a:ln w="12700">
            <a:solidFill>
              <a:srgbClr val="B9D4FF"/>
            </a:solidFill>
            <a:prstDash val="solid"/>
          </a:ln>
        </p:spPr>
      </p:sp>
      <p:pic>
        <p:nvPicPr>
          <p:cNvPr id="10" name="Image 1" descr="/tmp/claude-0/-home-user-FYpro-v2/2a4cd0f7-edb5-5afc-9ccc-ff84acfd346e/scratchpad/pptx-build/icons/shield-blue-512.png">    </p:cNvPr>
          <p:cNvPicPr>
            <a:picLocks noChangeAspect="1"/>
          </p:cNvPicPr>
          <p:nvPr/>
        </p:nvPicPr>
        <p:blipFill>
          <a:blip r:embed="rId2">
            <a:alphaModFix amt="65000"/>
          </a:blip>
          <a:stretch>
            <a:fillRect/>
          </a:stretch>
        </p:blipFill>
        <p:spPr>
          <a:xfrm>
            <a:off x="7543800" y="2286000"/>
            <a:ext cx="457200" cy="457200"/>
          </a:xfrm>
          <a:prstGeom prst="rect">
            <a:avLst/>
          </a:prstGeom>
        </p:spPr>
      </p:pic>
      <p:sp>
        <p:nvSpPr>
          <p:cNvPr id="11" name="Text 7"/>
          <p:cNvSpPr/>
          <p:nvPr/>
        </p:nvSpPr>
        <p:spPr>
          <a:xfrm>
            <a:off x="7543800" y="2926080"/>
            <a:ext cx="3611880" cy="1097280"/>
          </a:xfrm>
          <a:prstGeom prst="rect">
            <a:avLst/>
          </a:prstGeom>
          <a:noFill/>
          <a:ln/>
        </p:spPr>
        <p:txBody>
          <a:bodyPr wrap="square" lIns="0" tIns="0" rIns="0" bIns="0" rtlCol="0" anchor="ctr"/>
          <a:lstStyle/>
          <a:p>
            <a:pPr indent="0" marL="0">
              <a:lnSpc>
                <a:spcPts val="2500"/>
              </a:lnSpc>
              <a:buNone/>
            </a:pPr>
            <a:r>
              <a:rPr lang="en-US" sz="1900" dirty="0">
                <a:solidFill>
                  <a:srgbClr val="0D1B2A"/>
                </a:solidFill>
                <a:latin typeface="DM Serif Display" pitchFamily="34" charset="0"/>
                <a:ea typeface="DM Serif Display" pitchFamily="34" charset="-122"/>
                <a:cs typeface="DM Serif Display" pitchFamily="34" charset="-120"/>
              </a:rPr>
              <a:t>Not weak research.</a:t>
            </a:r>
            <a:endParaRPr lang="en-US" sz="1900" dirty="0"/>
          </a:p>
          <a:p>
            <a:pPr indent="0" marL="0">
              <a:lnSpc>
                <a:spcPts val="2500"/>
              </a:lnSpc>
              <a:buNone/>
            </a:pPr>
            <a:r>
              <a:rPr lang="en-US" sz="1900" dirty="0">
                <a:solidFill>
                  <a:srgbClr val="0D1B2A"/>
                </a:solidFill>
                <a:latin typeface="DM Serif Display" pitchFamily="34" charset="0"/>
                <a:ea typeface="DM Serif Display" pitchFamily="34" charset="-122"/>
                <a:cs typeface="DM Serif Display" pitchFamily="34" charset="-120"/>
              </a:rPr>
              <a:t>An unclear process.</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whatitis.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04 / 10</a:t>
            </a:r>
            <a:endParaRPr lang="en-US" sz="1000" dirty="0"/>
          </a:p>
        </p:txBody>
      </p:sp>
      <p:sp>
        <p:nvSpPr>
          <p:cNvPr id="5" name="Text 2"/>
          <p:cNvSpPr/>
          <p:nvPr/>
        </p:nvSpPr>
        <p:spPr>
          <a:xfrm>
            <a:off x="640080" y="502920"/>
            <a:ext cx="5486400" cy="292608"/>
          </a:xfrm>
          <a:prstGeom prst="rect">
            <a:avLst/>
          </a:prstGeom>
          <a:noFill/>
          <a:ln/>
        </p:spPr>
        <p:txBody>
          <a:bodyPr wrap="square" lIns="0" tIns="0" rIns="0" bIns="0" rtlCol="0" anchor="ctr"/>
          <a:lstStyle/>
          <a:p>
            <a:pPr indent="0" marL="0">
              <a:buNone/>
            </a:pPr>
            <a:r>
              <a:rPr lang="en-US" sz="1100" spc="200" kern="0" dirty="0">
                <a:solidFill>
                  <a:srgbClr val="0066FF"/>
                </a:solidFill>
                <a:latin typeface="JetBrains Mono" pitchFamily="34" charset="0"/>
                <a:ea typeface="JetBrains Mono" pitchFamily="34" charset="-122"/>
                <a:cs typeface="JetBrains Mono" pitchFamily="34" charset="-120"/>
              </a:rPr>
              <a:t>WHAT FYPRO IS</a:t>
            </a:r>
            <a:endParaRPr lang="en-US" sz="1100" dirty="0"/>
          </a:p>
        </p:txBody>
      </p:sp>
      <p:sp>
        <p:nvSpPr>
          <p:cNvPr id="6" name="Text 3"/>
          <p:cNvSpPr/>
          <p:nvPr/>
        </p:nvSpPr>
        <p:spPr>
          <a:xfrm>
            <a:off x="640080" y="822960"/>
            <a:ext cx="10058400" cy="685800"/>
          </a:xfrm>
          <a:prstGeom prst="rect">
            <a:avLst/>
          </a:prstGeom>
          <a:noFill/>
          <a:ln/>
        </p:spPr>
        <p:txBody>
          <a:bodyPr wrap="square" lIns="0" tIns="0" rIns="0" bIns="0" rtlCol="0" anchor="ctr"/>
          <a:lstStyle/>
          <a:p>
            <a:pPr indent="0" marL="0">
              <a:buNone/>
            </a:pPr>
            <a:r>
              <a:rPr lang="en-US" sz="2800" dirty="0">
                <a:solidFill>
                  <a:srgbClr val="0D1B2A"/>
                </a:solidFill>
                <a:latin typeface="DM Serif Display" pitchFamily="34" charset="0"/>
                <a:ea typeface="DM Serif Display" pitchFamily="34" charset="-122"/>
                <a:cs typeface="DM Serif Display" pitchFamily="34" charset="-120"/>
              </a:rPr>
              <a:t>A research companion — not a shortcut.</a:t>
            </a:r>
            <a:endParaRPr lang="en-US" sz="2800" dirty="0"/>
          </a:p>
        </p:txBody>
      </p:sp>
      <p:sp>
        <p:nvSpPr>
          <p:cNvPr id="7" name="Text 4"/>
          <p:cNvSpPr/>
          <p:nvPr/>
        </p:nvSpPr>
        <p:spPr>
          <a:xfrm>
            <a:off x="640080" y="1554480"/>
            <a:ext cx="10241280" cy="868680"/>
          </a:xfrm>
          <a:prstGeom prst="rect">
            <a:avLst/>
          </a:prstGeom>
          <a:noFill/>
          <a:ln/>
        </p:spPr>
        <p:txBody>
          <a:bodyPr wrap="square" lIns="0" tIns="0" rIns="0" bIns="0" rtlCol="0" anchor="ctr"/>
          <a:lstStyle/>
          <a:p>
            <a:pPr indent="0" marL="0">
              <a:lnSpc>
                <a:spcPts val="1900"/>
              </a:lnSpc>
              <a:buNone/>
            </a:pPr>
            <a:r>
              <a:rPr lang="en-US" sz="1250" dirty="0">
                <a:solidFill>
                  <a:srgbClr val="636D78"/>
                </a:solidFill>
                <a:latin typeface="Poppins" pitchFamily="34" charset="0"/>
                <a:ea typeface="Poppins" pitchFamily="34" charset="-122"/>
                <a:cs typeface="Poppins" pitchFamily="34" charset="-120"/>
              </a:rPr>
              <a:t>FYPro is an AI-powered companion for the final year research and writing process. It validates your topic, structures your chapters, sharpens your methodology, plans your writing schedule, reviews your drafts, and prepares you to defend your work.</a:t>
            </a:r>
            <a:endParaRPr lang="en-US" sz="1250" dirty="0"/>
          </a:p>
        </p:txBody>
      </p:sp>
      <p:sp>
        <p:nvSpPr>
          <p:cNvPr id="8" name="Shape 5"/>
          <p:cNvSpPr/>
          <p:nvPr/>
        </p:nvSpPr>
        <p:spPr>
          <a:xfrm>
            <a:off x="640080" y="2651760"/>
            <a:ext cx="3383280" cy="1691640"/>
          </a:xfrm>
          <a:prstGeom prst="roundRect">
            <a:avLst>
              <a:gd name="adj" fmla="val 4865"/>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9" name="Shape 6"/>
          <p:cNvSpPr/>
          <p:nvPr/>
        </p:nvSpPr>
        <p:spPr>
          <a:xfrm>
            <a:off x="822960" y="2834640"/>
            <a:ext cx="548640" cy="548640"/>
          </a:xfrm>
          <a:prstGeom prst="ellipse">
            <a:avLst/>
          </a:prstGeom>
          <a:solidFill>
            <a:srgbClr val="EFF6FF"/>
          </a:solidFill>
          <a:ln/>
        </p:spPr>
      </p:sp>
      <p:pic>
        <p:nvPicPr>
          <p:cNvPr id="10" name="Image 1" descr="/tmp/claude-0/-home-user-FYpro-v2/2a4cd0f7-edb5-5afc-9ccc-ff84acfd346e/scratchpad/pptx-build/icons/icon-checksquare.png">    </p:cNvPr>
          <p:cNvPicPr>
            <a:picLocks noChangeAspect="1"/>
          </p:cNvPicPr>
          <p:nvPr/>
        </p:nvPicPr>
        <p:blipFill>
          <a:blip r:embed="rId2"/>
          <a:stretch>
            <a:fillRect/>
          </a:stretch>
        </p:blipFill>
        <p:spPr>
          <a:xfrm>
            <a:off x="954634" y="2966314"/>
            <a:ext cx="285293" cy="285293"/>
          </a:xfrm>
          <a:prstGeom prst="rect">
            <a:avLst/>
          </a:prstGeom>
        </p:spPr>
      </p:pic>
      <p:sp>
        <p:nvSpPr>
          <p:cNvPr id="11" name="Text 7"/>
          <p:cNvSpPr/>
          <p:nvPr/>
        </p:nvSpPr>
        <p:spPr>
          <a:xfrm>
            <a:off x="914400" y="3520440"/>
            <a:ext cx="2834640" cy="320040"/>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Guides, step by step</a:t>
            </a:r>
            <a:endParaRPr lang="en-US" sz="1300" dirty="0"/>
          </a:p>
        </p:txBody>
      </p:sp>
      <p:sp>
        <p:nvSpPr>
          <p:cNvPr id="12" name="Text 8"/>
          <p:cNvSpPr/>
          <p:nvPr/>
        </p:nvSpPr>
        <p:spPr>
          <a:xfrm>
            <a:off x="914400" y="3822192"/>
            <a:ext cx="2834640" cy="457200"/>
          </a:xfrm>
          <a:prstGeom prst="rect">
            <a:avLst/>
          </a:prstGeom>
          <a:noFill/>
          <a:ln/>
        </p:spPr>
        <p:txBody>
          <a:bodyPr wrap="square" lIns="0" tIns="0" rIns="0" bIns="0" rtlCol="0" anchor="ctr"/>
          <a:lstStyle/>
          <a:p>
            <a:pPr indent="0" marL="0">
              <a:lnSpc>
                <a:spcPts val="1400"/>
              </a:lnSpc>
              <a:buNone/>
            </a:pPr>
            <a:r>
              <a:rPr lang="en-US" sz="1050" dirty="0">
                <a:solidFill>
                  <a:srgbClr val="636D78"/>
                </a:solidFill>
                <a:latin typeface="Poppins" pitchFamily="34" charset="0"/>
                <a:ea typeface="Poppins" pitchFamily="34" charset="-122"/>
                <a:cs typeface="Poppins" pitchFamily="34" charset="-120"/>
              </a:rPr>
              <a:t>A structured six-step workflow — never a blank page and a deadline.</a:t>
            </a:r>
            <a:endParaRPr lang="en-US" sz="1050" dirty="0"/>
          </a:p>
        </p:txBody>
      </p:sp>
      <p:sp>
        <p:nvSpPr>
          <p:cNvPr id="13" name="Shape 9"/>
          <p:cNvSpPr/>
          <p:nvPr/>
        </p:nvSpPr>
        <p:spPr>
          <a:xfrm>
            <a:off x="4297680" y="2651760"/>
            <a:ext cx="3383280" cy="1691640"/>
          </a:xfrm>
          <a:prstGeom prst="roundRect">
            <a:avLst>
              <a:gd name="adj" fmla="val 4865"/>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14" name="Shape 10"/>
          <p:cNvSpPr/>
          <p:nvPr/>
        </p:nvSpPr>
        <p:spPr>
          <a:xfrm>
            <a:off x="4480560" y="2834640"/>
            <a:ext cx="548640" cy="548640"/>
          </a:xfrm>
          <a:prstGeom prst="ellipse">
            <a:avLst/>
          </a:prstGeom>
          <a:solidFill>
            <a:srgbClr val="EFF6FF"/>
          </a:solidFill>
          <a:ln/>
        </p:spPr>
      </p:sp>
      <p:pic>
        <p:nvPicPr>
          <p:cNvPr id="15" name="Image 2" descr="/tmp/claude-0/-home-user-FYpro-v2/2a4cd0f7-edb5-5afc-9ccc-ff84acfd346e/scratchpad/pptx-build/icons/icon-award.png">    </p:cNvPr>
          <p:cNvPicPr>
            <a:picLocks noChangeAspect="1"/>
          </p:cNvPicPr>
          <p:nvPr/>
        </p:nvPicPr>
        <p:blipFill>
          <a:blip r:embed="rId3"/>
          <a:stretch>
            <a:fillRect/>
          </a:stretch>
        </p:blipFill>
        <p:spPr>
          <a:xfrm>
            <a:off x="4612234" y="2966314"/>
            <a:ext cx="285293" cy="285293"/>
          </a:xfrm>
          <a:prstGeom prst="rect">
            <a:avLst/>
          </a:prstGeom>
        </p:spPr>
      </p:pic>
      <p:sp>
        <p:nvSpPr>
          <p:cNvPr id="16" name="Text 11"/>
          <p:cNvSpPr/>
          <p:nvPr/>
        </p:nvSpPr>
        <p:spPr>
          <a:xfrm>
            <a:off x="4572000" y="3520440"/>
            <a:ext cx="2834640" cy="320040"/>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Prepares you to defend</a:t>
            </a:r>
            <a:endParaRPr lang="en-US" sz="1300" dirty="0"/>
          </a:p>
        </p:txBody>
      </p:sp>
      <p:sp>
        <p:nvSpPr>
          <p:cNvPr id="17" name="Text 12"/>
          <p:cNvSpPr/>
          <p:nvPr/>
        </p:nvSpPr>
        <p:spPr>
          <a:xfrm>
            <a:off x="4572000" y="3822192"/>
            <a:ext cx="2834640" cy="457200"/>
          </a:xfrm>
          <a:prstGeom prst="rect">
            <a:avLst/>
          </a:prstGeom>
          <a:noFill/>
          <a:ln/>
        </p:spPr>
        <p:txBody>
          <a:bodyPr wrap="square" lIns="0" tIns="0" rIns="0" bIns="0" rtlCol="0" anchor="ctr"/>
          <a:lstStyle/>
          <a:p>
            <a:pPr indent="0" marL="0">
              <a:lnSpc>
                <a:spcPts val="1400"/>
              </a:lnSpc>
              <a:buNone/>
            </a:pPr>
            <a:r>
              <a:rPr lang="en-US" sz="1050" dirty="0">
                <a:solidFill>
                  <a:srgbClr val="636D78"/>
                </a:solidFill>
                <a:latin typeface="Poppins" pitchFamily="34" charset="0"/>
                <a:ea typeface="Poppins" pitchFamily="34" charset="-122"/>
                <a:cs typeface="Poppins" pitchFamily="34" charset="-120"/>
              </a:rPr>
              <a:t>A real examiner panel simulation, so the defense room holds no surprises.</a:t>
            </a:r>
            <a:endParaRPr lang="en-US" sz="1050" dirty="0"/>
          </a:p>
        </p:txBody>
      </p:sp>
      <p:sp>
        <p:nvSpPr>
          <p:cNvPr id="18" name="Shape 13"/>
          <p:cNvSpPr/>
          <p:nvPr/>
        </p:nvSpPr>
        <p:spPr>
          <a:xfrm>
            <a:off x="7955280" y="2651760"/>
            <a:ext cx="3383280" cy="1691640"/>
          </a:xfrm>
          <a:prstGeom prst="roundRect">
            <a:avLst>
              <a:gd name="adj" fmla="val 4865"/>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19" name="Shape 14"/>
          <p:cNvSpPr/>
          <p:nvPr/>
        </p:nvSpPr>
        <p:spPr>
          <a:xfrm>
            <a:off x="8138160" y="2834640"/>
            <a:ext cx="548640" cy="548640"/>
          </a:xfrm>
          <a:prstGeom prst="ellipse">
            <a:avLst/>
          </a:prstGeom>
          <a:solidFill>
            <a:srgbClr val="EFF6FF"/>
          </a:solidFill>
          <a:ln/>
        </p:spPr>
      </p:sp>
      <p:pic>
        <p:nvPicPr>
          <p:cNvPr id="20" name="Image 3" descr="/tmp/claude-0/-home-user-FYpro-v2/2a4cd0f7-edb5-5afc-9ccc-ff84acfd346e/scratchpad/pptx-build/icons/icon-heart.png">    </p:cNvPr>
          <p:cNvPicPr>
            <a:picLocks noChangeAspect="1"/>
          </p:cNvPicPr>
          <p:nvPr/>
        </p:nvPicPr>
        <p:blipFill>
          <a:blip r:embed="rId4"/>
          <a:stretch>
            <a:fillRect/>
          </a:stretch>
        </p:blipFill>
        <p:spPr>
          <a:xfrm>
            <a:off x="8269834" y="2966314"/>
            <a:ext cx="285293" cy="285293"/>
          </a:xfrm>
          <a:prstGeom prst="rect">
            <a:avLst/>
          </a:prstGeom>
        </p:spPr>
      </p:pic>
      <p:sp>
        <p:nvSpPr>
          <p:cNvPr id="21" name="Text 15"/>
          <p:cNvSpPr/>
          <p:nvPr/>
        </p:nvSpPr>
        <p:spPr>
          <a:xfrm>
            <a:off x="8229600" y="3520440"/>
            <a:ext cx="2834640" cy="320040"/>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Built for Nigeria</a:t>
            </a:r>
            <a:endParaRPr lang="en-US" sz="1300" dirty="0"/>
          </a:p>
        </p:txBody>
      </p:sp>
      <p:sp>
        <p:nvSpPr>
          <p:cNvPr id="22" name="Text 16"/>
          <p:cNvSpPr/>
          <p:nvPr/>
        </p:nvSpPr>
        <p:spPr>
          <a:xfrm>
            <a:off x="8229600" y="3822192"/>
            <a:ext cx="2834640" cy="457200"/>
          </a:xfrm>
          <a:prstGeom prst="rect">
            <a:avLst/>
          </a:prstGeom>
          <a:noFill/>
          <a:ln/>
        </p:spPr>
        <p:txBody>
          <a:bodyPr wrap="square" lIns="0" tIns="0" rIns="0" bIns="0" rtlCol="0" anchor="ctr"/>
          <a:lstStyle/>
          <a:p>
            <a:pPr indent="0" marL="0">
              <a:lnSpc>
                <a:spcPts val="1400"/>
              </a:lnSpc>
              <a:buNone/>
            </a:pPr>
            <a:r>
              <a:rPr lang="en-US" sz="1050" dirty="0">
                <a:solidFill>
                  <a:srgbClr val="636D78"/>
                </a:solidFill>
                <a:latin typeface="Poppins" pitchFamily="34" charset="0"/>
                <a:ea typeface="Poppins" pitchFamily="34" charset="-122"/>
                <a:cs typeface="Poppins" pitchFamily="34" charset="-120"/>
              </a:rPr>
              <a:t>Every prompt is written for the Nigerian university research context.</a:t>
            </a:r>
            <a:endParaRPr lang="en-US" sz="1050" dirty="0"/>
          </a:p>
        </p:txBody>
      </p:sp>
      <p:sp>
        <p:nvSpPr>
          <p:cNvPr id="23" name="Shape 17"/>
          <p:cNvSpPr/>
          <p:nvPr/>
        </p:nvSpPr>
        <p:spPr>
          <a:xfrm>
            <a:off x="640080" y="4709160"/>
            <a:ext cx="3374136" cy="384048"/>
          </a:xfrm>
          <a:prstGeom prst="roundRect">
            <a:avLst>
              <a:gd name="adj" fmla="val 50000"/>
            </a:avLst>
          </a:prstGeom>
          <a:solidFill>
            <a:srgbClr val="F0F4F8"/>
          </a:solidFill>
          <a:ln w="15875">
            <a:solidFill>
              <a:srgbClr val="D9DEE3"/>
            </a:solidFill>
            <a:prstDash val="solid"/>
          </a:ln>
        </p:spPr>
      </p:sp>
      <p:pic>
        <p:nvPicPr>
          <p:cNvPr id="24" name="Image 4" descr="/tmp/claude-0/-home-user-FYpro-v2/2a4cd0f7-edb5-5afc-9ccc-ff84acfd346e/scratchpad/pptx-build/icons/icon-x-muted.png">    </p:cNvPr>
          <p:cNvPicPr>
            <a:picLocks noChangeAspect="1"/>
          </p:cNvPicPr>
          <p:nvPr/>
        </p:nvPicPr>
        <p:blipFill>
          <a:blip r:embed="rId5"/>
          <a:stretch>
            <a:fillRect/>
          </a:stretch>
        </p:blipFill>
        <p:spPr>
          <a:xfrm>
            <a:off x="786384" y="4818888"/>
            <a:ext cx="164592" cy="164592"/>
          </a:xfrm>
          <a:prstGeom prst="rect">
            <a:avLst/>
          </a:prstGeom>
        </p:spPr>
      </p:pic>
      <p:sp>
        <p:nvSpPr>
          <p:cNvPr id="25" name="Text 18"/>
          <p:cNvSpPr/>
          <p:nvPr/>
        </p:nvSpPr>
        <p:spPr>
          <a:xfrm>
            <a:off x="1005840" y="4709160"/>
            <a:ext cx="2916936" cy="384048"/>
          </a:xfrm>
          <a:prstGeom prst="rect">
            <a:avLst/>
          </a:prstGeom>
          <a:noFill/>
          <a:ln/>
        </p:spPr>
        <p:txBody>
          <a:bodyPr wrap="square" lIns="0" tIns="0" rIns="0" bIns="0" rtlCol="0" anchor="ctr"/>
          <a:lstStyle/>
          <a:p>
            <a:pPr indent="0" marL="0">
              <a:buNone/>
            </a:pPr>
            <a:r>
              <a:rPr lang="en-US" sz="1050" dirty="0">
                <a:solidFill>
                  <a:srgbClr val="636D78"/>
                </a:solidFill>
                <a:latin typeface="Poppins Medium" pitchFamily="34" charset="0"/>
                <a:ea typeface="Poppins Medium" pitchFamily="34" charset="-122"/>
                <a:cs typeface="Poppins Medium" pitchFamily="34" charset="-120"/>
              </a:rPr>
              <a:t>Not a plagiarism tool</a:t>
            </a:r>
            <a:endParaRPr lang="en-US" sz="1050" dirty="0"/>
          </a:p>
        </p:txBody>
      </p:sp>
      <p:sp>
        <p:nvSpPr>
          <p:cNvPr id="26" name="Shape 19"/>
          <p:cNvSpPr/>
          <p:nvPr/>
        </p:nvSpPr>
        <p:spPr>
          <a:xfrm>
            <a:off x="4215384" y="4709160"/>
            <a:ext cx="3118104" cy="384048"/>
          </a:xfrm>
          <a:prstGeom prst="roundRect">
            <a:avLst>
              <a:gd name="adj" fmla="val 50000"/>
            </a:avLst>
          </a:prstGeom>
          <a:solidFill>
            <a:srgbClr val="F0F4F8"/>
          </a:solidFill>
          <a:ln w="15875">
            <a:solidFill>
              <a:srgbClr val="D9DEE3"/>
            </a:solidFill>
            <a:prstDash val="solid"/>
          </a:ln>
        </p:spPr>
      </p:sp>
      <p:pic>
        <p:nvPicPr>
          <p:cNvPr id="27" name="Image 5" descr="/tmp/claude-0/-home-user-FYpro-v2/2a4cd0f7-edb5-5afc-9ccc-ff84acfd346e/scratchpad/pptx-build/icons/icon-x-muted.png">    </p:cNvPr>
          <p:cNvPicPr>
            <a:picLocks noChangeAspect="1"/>
          </p:cNvPicPr>
          <p:nvPr/>
        </p:nvPicPr>
        <p:blipFill>
          <a:blip r:embed="rId6"/>
          <a:stretch>
            <a:fillRect/>
          </a:stretch>
        </p:blipFill>
        <p:spPr>
          <a:xfrm>
            <a:off x="4361688" y="4818888"/>
            <a:ext cx="164592" cy="164592"/>
          </a:xfrm>
          <a:prstGeom prst="rect">
            <a:avLst/>
          </a:prstGeom>
        </p:spPr>
      </p:pic>
      <p:sp>
        <p:nvSpPr>
          <p:cNvPr id="28" name="Text 20"/>
          <p:cNvSpPr/>
          <p:nvPr/>
        </p:nvSpPr>
        <p:spPr>
          <a:xfrm>
            <a:off x="4581144" y="4709160"/>
            <a:ext cx="2660904" cy="384048"/>
          </a:xfrm>
          <a:prstGeom prst="rect">
            <a:avLst/>
          </a:prstGeom>
          <a:noFill/>
          <a:ln/>
        </p:spPr>
        <p:txBody>
          <a:bodyPr wrap="square" lIns="0" tIns="0" rIns="0" bIns="0" rtlCol="0" anchor="ctr"/>
          <a:lstStyle/>
          <a:p>
            <a:pPr indent="0" marL="0">
              <a:buNone/>
            </a:pPr>
            <a:r>
              <a:rPr lang="en-US" sz="1050" dirty="0">
                <a:solidFill>
                  <a:srgbClr val="636D78"/>
                </a:solidFill>
                <a:latin typeface="Poppins Medium" pitchFamily="34" charset="0"/>
                <a:ea typeface="Poppins Medium" pitchFamily="34" charset="-122"/>
                <a:cs typeface="Poppins Medium" pitchFamily="34" charset="-120"/>
              </a:rPr>
              <a:t>Not an essay writer</a:t>
            </a:r>
            <a:endParaRPr lang="en-US" sz="1050" dirty="0"/>
          </a:p>
        </p:txBody>
      </p:sp>
      <p:sp>
        <p:nvSpPr>
          <p:cNvPr id="29" name="Shape 21"/>
          <p:cNvSpPr/>
          <p:nvPr/>
        </p:nvSpPr>
        <p:spPr>
          <a:xfrm>
            <a:off x="7534656" y="4709160"/>
            <a:ext cx="2478024" cy="384048"/>
          </a:xfrm>
          <a:prstGeom prst="roundRect">
            <a:avLst>
              <a:gd name="adj" fmla="val 50000"/>
            </a:avLst>
          </a:prstGeom>
          <a:solidFill>
            <a:srgbClr val="F0F4F8"/>
          </a:solidFill>
          <a:ln w="15875">
            <a:solidFill>
              <a:srgbClr val="D9DEE3"/>
            </a:solidFill>
            <a:prstDash val="solid"/>
          </a:ln>
        </p:spPr>
      </p:sp>
      <p:pic>
        <p:nvPicPr>
          <p:cNvPr id="30" name="Image 6" descr="/tmp/claude-0/-home-user-FYpro-v2/2a4cd0f7-edb5-5afc-9ccc-ff84acfd346e/scratchpad/pptx-build/icons/icon-x-muted.png">    </p:cNvPr>
          <p:cNvPicPr>
            <a:picLocks noChangeAspect="1"/>
          </p:cNvPicPr>
          <p:nvPr/>
        </p:nvPicPr>
        <p:blipFill>
          <a:blip r:embed="rId7"/>
          <a:stretch>
            <a:fillRect/>
          </a:stretch>
        </p:blipFill>
        <p:spPr>
          <a:xfrm>
            <a:off x="7680960" y="4818888"/>
            <a:ext cx="164592" cy="164592"/>
          </a:xfrm>
          <a:prstGeom prst="rect">
            <a:avLst/>
          </a:prstGeom>
        </p:spPr>
      </p:pic>
      <p:sp>
        <p:nvSpPr>
          <p:cNvPr id="31" name="Text 22"/>
          <p:cNvSpPr/>
          <p:nvPr/>
        </p:nvSpPr>
        <p:spPr>
          <a:xfrm>
            <a:off x="7900416" y="4709160"/>
            <a:ext cx="2020824" cy="384048"/>
          </a:xfrm>
          <a:prstGeom prst="rect">
            <a:avLst/>
          </a:prstGeom>
          <a:noFill/>
          <a:ln/>
        </p:spPr>
        <p:txBody>
          <a:bodyPr wrap="square" lIns="0" tIns="0" rIns="0" bIns="0" rtlCol="0" anchor="ctr"/>
          <a:lstStyle/>
          <a:p>
            <a:pPr indent="0" marL="0">
              <a:buNone/>
            </a:pPr>
            <a:r>
              <a:rPr lang="en-US" sz="1050" dirty="0">
                <a:solidFill>
                  <a:srgbClr val="636D78"/>
                </a:solidFill>
                <a:latin typeface="Poppins Medium" pitchFamily="34" charset="0"/>
                <a:ea typeface="Poppins Medium" pitchFamily="34" charset="-122"/>
                <a:cs typeface="Poppins Medium" pitchFamily="34" charset="-120"/>
              </a:rPr>
              <a:t>Not a shortcut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journey.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60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05 / 10</a:t>
            </a:r>
            <a:endParaRPr lang="en-US" sz="1000" dirty="0"/>
          </a:p>
        </p:txBody>
      </p:sp>
      <p:sp>
        <p:nvSpPr>
          <p:cNvPr id="5" name="Text 2"/>
          <p:cNvSpPr/>
          <p:nvPr/>
        </p:nvSpPr>
        <p:spPr>
          <a:xfrm>
            <a:off x="640080" y="384048"/>
            <a:ext cx="5486400" cy="292608"/>
          </a:xfrm>
          <a:prstGeom prst="rect">
            <a:avLst/>
          </a:prstGeom>
          <a:noFill/>
          <a:ln/>
        </p:spPr>
        <p:txBody>
          <a:bodyPr wrap="square" lIns="0" tIns="0" rIns="0" bIns="0" rtlCol="0" anchor="ctr"/>
          <a:lstStyle/>
          <a:p>
            <a:pPr indent="0" marL="0">
              <a:buNone/>
            </a:pPr>
            <a:r>
              <a:rPr lang="en-US" sz="1100" spc="200" kern="0" dirty="0">
                <a:solidFill>
                  <a:srgbClr val="0066FF"/>
                </a:solidFill>
                <a:latin typeface="JetBrains Mono" pitchFamily="34" charset="0"/>
                <a:ea typeface="JetBrains Mono" pitchFamily="34" charset="-122"/>
                <a:cs typeface="JetBrains Mono" pitchFamily="34" charset="-120"/>
              </a:rPr>
              <a:t>THE JOURNEY</a:t>
            </a:r>
            <a:endParaRPr lang="en-US" sz="1100" dirty="0"/>
          </a:p>
        </p:txBody>
      </p:sp>
      <p:sp>
        <p:nvSpPr>
          <p:cNvPr id="6" name="Text 3"/>
          <p:cNvSpPr/>
          <p:nvPr/>
        </p:nvSpPr>
        <p:spPr>
          <a:xfrm>
            <a:off x="640080" y="658368"/>
            <a:ext cx="9144000" cy="502920"/>
          </a:xfrm>
          <a:prstGeom prst="rect">
            <a:avLst/>
          </a:prstGeom>
          <a:noFill/>
          <a:ln/>
        </p:spPr>
        <p:txBody>
          <a:bodyPr wrap="square" lIns="0" tIns="0" rIns="0" bIns="0" rtlCol="0" anchor="ctr"/>
          <a:lstStyle/>
          <a:p>
            <a:pPr indent="0" marL="0">
              <a:buNone/>
            </a:pPr>
            <a:r>
              <a:rPr lang="en-US" sz="2500" dirty="0">
                <a:solidFill>
                  <a:srgbClr val="0D1B2A"/>
                </a:solidFill>
                <a:latin typeface="DM Serif Display" pitchFamily="34" charset="0"/>
                <a:ea typeface="DM Serif Display" pitchFamily="34" charset="-122"/>
                <a:cs typeface="DM Serif Display" pitchFamily="34" charset="-120"/>
              </a:rPr>
              <a:t>One structured path, six steps.</a:t>
            </a:r>
            <a:endParaRPr lang="en-US" sz="2500" dirty="0"/>
          </a:p>
        </p:txBody>
      </p:sp>
      <p:sp>
        <p:nvSpPr>
          <p:cNvPr id="7" name="Shape 4"/>
          <p:cNvSpPr/>
          <p:nvPr/>
        </p:nvSpPr>
        <p:spPr>
          <a:xfrm>
            <a:off x="676656" y="1412748"/>
            <a:ext cx="512064" cy="512064"/>
          </a:xfrm>
          <a:prstGeom prst="ellipse">
            <a:avLst/>
          </a:prstGeom>
          <a:solidFill>
            <a:srgbClr val="FFFFFF"/>
          </a:solidFill>
          <a:ln w="12700">
            <a:solidFill>
              <a:srgbClr val="D9DEE3"/>
            </a:solidFill>
            <a:prstDash val="solid"/>
          </a:ln>
        </p:spPr>
      </p:sp>
      <p:sp>
        <p:nvSpPr>
          <p:cNvPr id="8" name="Text 5"/>
          <p:cNvSpPr/>
          <p:nvPr/>
        </p:nvSpPr>
        <p:spPr>
          <a:xfrm>
            <a:off x="676656" y="1412748"/>
            <a:ext cx="512064" cy="512064"/>
          </a:xfrm>
          <a:prstGeom prst="rect">
            <a:avLst/>
          </a:prstGeom>
          <a:noFill/>
          <a:ln/>
        </p:spPr>
        <p:txBody>
          <a:bodyPr wrap="square" lIns="0" tIns="0" rIns="0" bIns="0" rtlCol="0" anchor="ctr"/>
          <a:lstStyle/>
          <a:p>
            <a:pPr algn="ctr" indent="0" marL="0">
              <a:buNone/>
            </a:pPr>
            <a:r>
              <a:rPr lang="en-US" sz="1150" b="1" dirty="0">
                <a:solidFill>
                  <a:srgbClr val="9199A1"/>
                </a:solidFill>
                <a:latin typeface="JetBrains Mono" pitchFamily="34" charset="0"/>
                <a:ea typeface="JetBrains Mono" pitchFamily="34" charset="-122"/>
                <a:cs typeface="JetBrains Mono" pitchFamily="34" charset="-120"/>
              </a:rPr>
              <a:t>01</a:t>
            </a:r>
            <a:endParaRPr lang="en-US" sz="1150" dirty="0"/>
          </a:p>
        </p:txBody>
      </p:sp>
      <p:sp>
        <p:nvSpPr>
          <p:cNvPr id="9" name="Text 6"/>
          <p:cNvSpPr/>
          <p:nvPr/>
        </p:nvSpPr>
        <p:spPr>
          <a:xfrm>
            <a:off x="1325880" y="1307592"/>
            <a:ext cx="2834640" cy="292608"/>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Topic Validator</a:t>
            </a:r>
            <a:endParaRPr lang="en-US" sz="1300" dirty="0"/>
          </a:p>
        </p:txBody>
      </p:sp>
      <p:sp>
        <p:nvSpPr>
          <p:cNvPr id="10" name="Text 7"/>
          <p:cNvSpPr/>
          <p:nvPr/>
        </p:nvSpPr>
        <p:spPr>
          <a:xfrm>
            <a:off x="4251960" y="1271016"/>
            <a:ext cx="7863840" cy="502920"/>
          </a:xfrm>
          <a:prstGeom prst="rect">
            <a:avLst/>
          </a:prstGeom>
          <a:noFill/>
          <a:ln/>
        </p:spPr>
        <p:txBody>
          <a:bodyPr wrap="square" lIns="0" tIns="0" rIns="0" bIns="0" rtlCol="0" anchor="t"/>
          <a:lstStyle/>
          <a:p>
            <a:pPr indent="0" marL="0">
              <a:lnSpc>
                <a:spcPts val="1500"/>
              </a:lnSpc>
              <a:buNone/>
            </a:pPr>
            <a:r>
              <a:rPr lang="en-US" sz="1100" dirty="0">
                <a:solidFill>
                  <a:srgbClr val="636D78"/>
                </a:solidFill>
                <a:latin typeface="Poppins" pitchFamily="34" charset="0"/>
                <a:ea typeface="Poppins" pitchFamily="34" charset="-122"/>
                <a:cs typeface="Poppins" pitchFamily="34" charset="-120"/>
              </a:rPr>
              <a:t>Checks your research topic for feasibility, scope, and originality against your department and level.</a:t>
            </a:r>
            <a:endParaRPr lang="en-US" sz="1100" dirty="0"/>
          </a:p>
        </p:txBody>
      </p:sp>
      <p:sp>
        <p:nvSpPr>
          <p:cNvPr id="11" name="Shape 8"/>
          <p:cNvSpPr/>
          <p:nvPr/>
        </p:nvSpPr>
        <p:spPr>
          <a:xfrm>
            <a:off x="640080" y="2066544"/>
            <a:ext cx="10881360" cy="0"/>
          </a:xfrm>
          <a:prstGeom prst="line">
            <a:avLst/>
          </a:prstGeom>
          <a:noFill/>
          <a:ln w="9525">
            <a:solidFill>
              <a:srgbClr val="D9DEE3"/>
            </a:solidFill>
            <a:prstDash val="solid"/>
          </a:ln>
        </p:spPr>
      </p:sp>
      <p:sp>
        <p:nvSpPr>
          <p:cNvPr id="12" name="Shape 9"/>
          <p:cNvSpPr/>
          <p:nvPr/>
        </p:nvSpPr>
        <p:spPr>
          <a:xfrm>
            <a:off x="676656" y="2208276"/>
            <a:ext cx="512064" cy="512064"/>
          </a:xfrm>
          <a:prstGeom prst="ellipse">
            <a:avLst/>
          </a:prstGeom>
          <a:solidFill>
            <a:srgbClr val="FFFFFF"/>
          </a:solidFill>
          <a:ln w="12700">
            <a:solidFill>
              <a:srgbClr val="D9DEE3"/>
            </a:solidFill>
            <a:prstDash val="solid"/>
          </a:ln>
        </p:spPr>
      </p:sp>
      <p:sp>
        <p:nvSpPr>
          <p:cNvPr id="13" name="Text 10"/>
          <p:cNvSpPr/>
          <p:nvPr/>
        </p:nvSpPr>
        <p:spPr>
          <a:xfrm>
            <a:off x="676656" y="2208276"/>
            <a:ext cx="512064" cy="512064"/>
          </a:xfrm>
          <a:prstGeom prst="rect">
            <a:avLst/>
          </a:prstGeom>
          <a:noFill/>
          <a:ln/>
        </p:spPr>
        <p:txBody>
          <a:bodyPr wrap="square" lIns="0" tIns="0" rIns="0" bIns="0" rtlCol="0" anchor="ctr"/>
          <a:lstStyle/>
          <a:p>
            <a:pPr algn="ctr" indent="0" marL="0">
              <a:buNone/>
            </a:pPr>
            <a:r>
              <a:rPr lang="en-US" sz="1150" b="1" dirty="0">
                <a:solidFill>
                  <a:srgbClr val="9199A1"/>
                </a:solidFill>
                <a:latin typeface="JetBrains Mono" pitchFamily="34" charset="0"/>
                <a:ea typeface="JetBrains Mono" pitchFamily="34" charset="-122"/>
                <a:cs typeface="JetBrains Mono" pitchFamily="34" charset="-120"/>
              </a:rPr>
              <a:t>02</a:t>
            </a:r>
            <a:endParaRPr lang="en-US" sz="1150" dirty="0"/>
          </a:p>
        </p:txBody>
      </p:sp>
      <p:sp>
        <p:nvSpPr>
          <p:cNvPr id="14" name="Text 11"/>
          <p:cNvSpPr/>
          <p:nvPr/>
        </p:nvSpPr>
        <p:spPr>
          <a:xfrm>
            <a:off x="1325880" y="2103120"/>
            <a:ext cx="2834640" cy="292608"/>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Chapter Architect</a:t>
            </a:r>
            <a:endParaRPr lang="en-US" sz="1300" dirty="0"/>
          </a:p>
        </p:txBody>
      </p:sp>
      <p:sp>
        <p:nvSpPr>
          <p:cNvPr id="15" name="Text 12"/>
          <p:cNvSpPr/>
          <p:nvPr/>
        </p:nvSpPr>
        <p:spPr>
          <a:xfrm>
            <a:off x="4251960" y="2066544"/>
            <a:ext cx="7863840" cy="502920"/>
          </a:xfrm>
          <a:prstGeom prst="rect">
            <a:avLst/>
          </a:prstGeom>
          <a:noFill/>
          <a:ln/>
        </p:spPr>
        <p:txBody>
          <a:bodyPr wrap="square" lIns="0" tIns="0" rIns="0" bIns="0" rtlCol="0" anchor="t"/>
          <a:lstStyle/>
          <a:p>
            <a:pPr indent="0" marL="0">
              <a:lnSpc>
                <a:spcPts val="1500"/>
              </a:lnSpc>
              <a:buNone/>
            </a:pPr>
            <a:r>
              <a:rPr lang="en-US" sz="1100" dirty="0">
                <a:solidFill>
                  <a:srgbClr val="636D78"/>
                </a:solidFill>
                <a:latin typeface="Poppins" pitchFamily="34" charset="0"/>
                <a:ea typeface="Poppins" pitchFamily="34" charset="-122"/>
                <a:cs typeface="Poppins" pitchFamily="34" charset="-120"/>
              </a:rPr>
              <a:t>Generates a complete five-chapter breakdown with section headings and key literature.</a:t>
            </a:r>
            <a:endParaRPr lang="en-US" sz="1100" dirty="0"/>
          </a:p>
        </p:txBody>
      </p:sp>
      <p:sp>
        <p:nvSpPr>
          <p:cNvPr id="16" name="Shape 13"/>
          <p:cNvSpPr/>
          <p:nvPr/>
        </p:nvSpPr>
        <p:spPr>
          <a:xfrm>
            <a:off x="4251960" y="2542032"/>
            <a:ext cx="1472184" cy="256032"/>
          </a:xfrm>
          <a:prstGeom prst="roundRect">
            <a:avLst>
              <a:gd name="adj" fmla="val 17857"/>
            </a:avLst>
          </a:prstGeom>
          <a:solidFill>
            <a:srgbClr val="EFF6FF"/>
          </a:solidFill>
          <a:ln/>
        </p:spPr>
      </p:sp>
      <p:sp>
        <p:nvSpPr>
          <p:cNvPr id="17" name="Text 14"/>
          <p:cNvSpPr/>
          <p:nvPr/>
        </p:nvSpPr>
        <p:spPr>
          <a:xfrm>
            <a:off x="4251960" y="2542032"/>
            <a:ext cx="1472184" cy="256032"/>
          </a:xfrm>
          <a:prstGeom prst="rect">
            <a:avLst/>
          </a:prstGeom>
          <a:noFill/>
          <a:ln/>
        </p:spPr>
        <p:txBody>
          <a:bodyPr wrap="square" lIns="0" tIns="0" rIns="0" bIns="0" rtlCol="0" anchor="ctr"/>
          <a:lstStyle/>
          <a:p>
            <a:pPr algn="ctr" indent="0" marL="0">
              <a:buNone/>
            </a:pPr>
            <a:r>
              <a:rPr lang="en-US" sz="750" spc="50" kern="0" dirty="0">
                <a:solidFill>
                  <a:srgbClr val="0066FF"/>
                </a:solidFill>
                <a:latin typeface="JetBrains Mono" pitchFamily="34" charset="0"/>
                <a:ea typeface="JetBrains Mono" pitchFamily="34" charset="-122"/>
                <a:cs typeface="JetBrains Mono" pitchFamily="34" charset="-120"/>
              </a:rPr>
              <a:t>LITERATURE MAP</a:t>
            </a:r>
            <a:endParaRPr lang="en-US" sz="750" dirty="0"/>
          </a:p>
        </p:txBody>
      </p:sp>
      <p:sp>
        <p:nvSpPr>
          <p:cNvPr id="18" name="Shape 15"/>
          <p:cNvSpPr/>
          <p:nvPr/>
        </p:nvSpPr>
        <p:spPr>
          <a:xfrm>
            <a:off x="5852160" y="2542032"/>
            <a:ext cx="1801368" cy="256032"/>
          </a:xfrm>
          <a:prstGeom prst="roundRect">
            <a:avLst>
              <a:gd name="adj" fmla="val 17857"/>
            </a:avLst>
          </a:prstGeom>
          <a:solidFill>
            <a:srgbClr val="EFF6FF"/>
          </a:solidFill>
          <a:ln/>
        </p:spPr>
      </p:sp>
      <p:sp>
        <p:nvSpPr>
          <p:cNvPr id="19" name="Text 16"/>
          <p:cNvSpPr/>
          <p:nvPr/>
        </p:nvSpPr>
        <p:spPr>
          <a:xfrm>
            <a:off x="5852160" y="2542032"/>
            <a:ext cx="1801368" cy="256032"/>
          </a:xfrm>
          <a:prstGeom prst="rect">
            <a:avLst/>
          </a:prstGeom>
          <a:noFill/>
          <a:ln/>
        </p:spPr>
        <p:txBody>
          <a:bodyPr wrap="square" lIns="0" tIns="0" rIns="0" bIns="0" rtlCol="0" anchor="ctr"/>
          <a:lstStyle/>
          <a:p>
            <a:pPr algn="ctr" indent="0" marL="0">
              <a:buNone/>
            </a:pPr>
            <a:r>
              <a:rPr lang="en-US" sz="750" spc="50" kern="0" dirty="0">
                <a:solidFill>
                  <a:srgbClr val="0066FF"/>
                </a:solidFill>
                <a:latin typeface="JetBrains Mono" pitchFamily="34" charset="0"/>
                <a:ea typeface="JetBrains Mono" pitchFamily="34" charset="-122"/>
                <a:cs typeface="JetBrains Mono" pitchFamily="34" charset="-120"/>
              </a:rPr>
              <a:t>ABSTRACT GENERATOR</a:t>
            </a:r>
            <a:endParaRPr lang="en-US" sz="750" dirty="0"/>
          </a:p>
        </p:txBody>
      </p:sp>
      <p:sp>
        <p:nvSpPr>
          <p:cNvPr id="20" name="Shape 17"/>
          <p:cNvSpPr/>
          <p:nvPr/>
        </p:nvSpPr>
        <p:spPr>
          <a:xfrm>
            <a:off x="640080" y="2862072"/>
            <a:ext cx="10881360" cy="0"/>
          </a:xfrm>
          <a:prstGeom prst="line">
            <a:avLst/>
          </a:prstGeom>
          <a:noFill/>
          <a:ln w="9525">
            <a:solidFill>
              <a:srgbClr val="D9DEE3"/>
            </a:solidFill>
            <a:prstDash val="solid"/>
          </a:ln>
        </p:spPr>
      </p:sp>
      <p:sp>
        <p:nvSpPr>
          <p:cNvPr id="21" name="Shape 18"/>
          <p:cNvSpPr/>
          <p:nvPr/>
        </p:nvSpPr>
        <p:spPr>
          <a:xfrm>
            <a:off x="676656" y="3003804"/>
            <a:ext cx="512064" cy="512064"/>
          </a:xfrm>
          <a:prstGeom prst="ellipse">
            <a:avLst/>
          </a:prstGeom>
          <a:solidFill>
            <a:srgbClr val="FFFFFF"/>
          </a:solidFill>
          <a:ln w="12700">
            <a:solidFill>
              <a:srgbClr val="D9DEE3"/>
            </a:solidFill>
            <a:prstDash val="solid"/>
          </a:ln>
        </p:spPr>
      </p:sp>
      <p:sp>
        <p:nvSpPr>
          <p:cNvPr id="22" name="Text 19"/>
          <p:cNvSpPr/>
          <p:nvPr/>
        </p:nvSpPr>
        <p:spPr>
          <a:xfrm>
            <a:off x="676656" y="3003804"/>
            <a:ext cx="512064" cy="512064"/>
          </a:xfrm>
          <a:prstGeom prst="rect">
            <a:avLst/>
          </a:prstGeom>
          <a:noFill/>
          <a:ln/>
        </p:spPr>
        <p:txBody>
          <a:bodyPr wrap="square" lIns="0" tIns="0" rIns="0" bIns="0" rtlCol="0" anchor="ctr"/>
          <a:lstStyle/>
          <a:p>
            <a:pPr algn="ctr" indent="0" marL="0">
              <a:buNone/>
            </a:pPr>
            <a:r>
              <a:rPr lang="en-US" sz="1150" b="1" dirty="0">
                <a:solidFill>
                  <a:srgbClr val="9199A1"/>
                </a:solidFill>
                <a:latin typeface="JetBrains Mono" pitchFamily="34" charset="0"/>
                <a:ea typeface="JetBrains Mono" pitchFamily="34" charset="-122"/>
                <a:cs typeface="JetBrains Mono" pitchFamily="34" charset="-120"/>
              </a:rPr>
              <a:t>03</a:t>
            </a:r>
            <a:endParaRPr lang="en-US" sz="1150" dirty="0"/>
          </a:p>
        </p:txBody>
      </p:sp>
      <p:sp>
        <p:nvSpPr>
          <p:cNvPr id="23" name="Text 20"/>
          <p:cNvSpPr/>
          <p:nvPr/>
        </p:nvSpPr>
        <p:spPr>
          <a:xfrm>
            <a:off x="1325880" y="2898648"/>
            <a:ext cx="2834640" cy="292608"/>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Methodology Advisor</a:t>
            </a:r>
            <a:endParaRPr lang="en-US" sz="1300" dirty="0"/>
          </a:p>
        </p:txBody>
      </p:sp>
      <p:sp>
        <p:nvSpPr>
          <p:cNvPr id="24" name="Text 21"/>
          <p:cNvSpPr/>
          <p:nvPr/>
        </p:nvSpPr>
        <p:spPr>
          <a:xfrm>
            <a:off x="4251960" y="2862072"/>
            <a:ext cx="7863840" cy="502920"/>
          </a:xfrm>
          <a:prstGeom prst="rect">
            <a:avLst/>
          </a:prstGeom>
          <a:noFill/>
          <a:ln/>
        </p:spPr>
        <p:txBody>
          <a:bodyPr wrap="square" lIns="0" tIns="0" rIns="0" bIns="0" rtlCol="0" anchor="t"/>
          <a:lstStyle/>
          <a:p>
            <a:pPr indent="0" marL="0">
              <a:lnSpc>
                <a:spcPts val="1500"/>
              </a:lnSpc>
              <a:buNone/>
            </a:pPr>
            <a:r>
              <a:rPr lang="en-US" sz="1100" dirty="0">
                <a:solidFill>
                  <a:srgbClr val="636D78"/>
                </a:solidFill>
                <a:latin typeface="Poppins" pitchFamily="34" charset="0"/>
                <a:ea typeface="Poppins" pitchFamily="34" charset="-122"/>
                <a:cs typeface="Poppins" pitchFamily="34" charset="-120"/>
              </a:rPr>
              <a:t>Selects your research design, sampling strategy, and data approach — justified for Chapter 3.</a:t>
            </a:r>
            <a:endParaRPr lang="en-US" sz="1100" dirty="0"/>
          </a:p>
        </p:txBody>
      </p:sp>
      <p:sp>
        <p:nvSpPr>
          <p:cNvPr id="25" name="Shape 22"/>
          <p:cNvSpPr/>
          <p:nvPr/>
        </p:nvSpPr>
        <p:spPr>
          <a:xfrm>
            <a:off x="4251960" y="3337560"/>
            <a:ext cx="1801368" cy="256032"/>
          </a:xfrm>
          <a:prstGeom prst="roundRect">
            <a:avLst>
              <a:gd name="adj" fmla="val 17857"/>
            </a:avLst>
          </a:prstGeom>
          <a:solidFill>
            <a:srgbClr val="EFF6FF"/>
          </a:solidFill>
          <a:ln/>
        </p:spPr>
      </p:sp>
      <p:sp>
        <p:nvSpPr>
          <p:cNvPr id="26" name="Text 23"/>
          <p:cNvSpPr/>
          <p:nvPr/>
        </p:nvSpPr>
        <p:spPr>
          <a:xfrm>
            <a:off x="4251960" y="3337560"/>
            <a:ext cx="1801368" cy="256032"/>
          </a:xfrm>
          <a:prstGeom prst="rect">
            <a:avLst/>
          </a:prstGeom>
          <a:noFill/>
          <a:ln/>
        </p:spPr>
        <p:txBody>
          <a:bodyPr wrap="square" lIns="0" tIns="0" rIns="0" bIns="0" rtlCol="0" anchor="ctr"/>
          <a:lstStyle/>
          <a:p>
            <a:pPr algn="ctr" indent="0" marL="0">
              <a:buNone/>
            </a:pPr>
            <a:r>
              <a:rPr lang="en-US" sz="750" spc="50" kern="0" dirty="0">
                <a:solidFill>
                  <a:srgbClr val="0066FF"/>
                </a:solidFill>
                <a:latin typeface="JetBrains Mono" pitchFamily="34" charset="0"/>
                <a:ea typeface="JetBrains Mono" pitchFamily="34" charset="-122"/>
                <a:cs typeface="JetBrains Mono" pitchFamily="34" charset="-120"/>
              </a:rPr>
              <a:t>INSTRUMENT BUILDER</a:t>
            </a:r>
            <a:endParaRPr lang="en-US" sz="750" dirty="0"/>
          </a:p>
        </p:txBody>
      </p:sp>
      <p:sp>
        <p:nvSpPr>
          <p:cNvPr id="27" name="Shape 24"/>
          <p:cNvSpPr/>
          <p:nvPr/>
        </p:nvSpPr>
        <p:spPr>
          <a:xfrm>
            <a:off x="640080" y="3657600"/>
            <a:ext cx="10881360" cy="0"/>
          </a:xfrm>
          <a:prstGeom prst="line">
            <a:avLst/>
          </a:prstGeom>
          <a:noFill/>
          <a:ln w="9525">
            <a:solidFill>
              <a:srgbClr val="D9DEE3"/>
            </a:solidFill>
            <a:prstDash val="solid"/>
          </a:ln>
        </p:spPr>
      </p:sp>
      <p:sp>
        <p:nvSpPr>
          <p:cNvPr id="28" name="Shape 25"/>
          <p:cNvSpPr/>
          <p:nvPr/>
        </p:nvSpPr>
        <p:spPr>
          <a:xfrm>
            <a:off x="676656" y="3799332"/>
            <a:ext cx="512064" cy="512064"/>
          </a:xfrm>
          <a:prstGeom prst="ellipse">
            <a:avLst/>
          </a:prstGeom>
          <a:solidFill>
            <a:srgbClr val="FFFFFF"/>
          </a:solidFill>
          <a:ln w="12700">
            <a:solidFill>
              <a:srgbClr val="D9DEE3"/>
            </a:solidFill>
            <a:prstDash val="solid"/>
          </a:ln>
        </p:spPr>
      </p:sp>
      <p:sp>
        <p:nvSpPr>
          <p:cNvPr id="29" name="Text 26"/>
          <p:cNvSpPr/>
          <p:nvPr/>
        </p:nvSpPr>
        <p:spPr>
          <a:xfrm>
            <a:off x="676656" y="3799332"/>
            <a:ext cx="512064" cy="512064"/>
          </a:xfrm>
          <a:prstGeom prst="rect">
            <a:avLst/>
          </a:prstGeom>
          <a:noFill/>
          <a:ln/>
        </p:spPr>
        <p:txBody>
          <a:bodyPr wrap="square" lIns="0" tIns="0" rIns="0" bIns="0" rtlCol="0" anchor="ctr"/>
          <a:lstStyle/>
          <a:p>
            <a:pPr algn="ctr" indent="0" marL="0">
              <a:buNone/>
            </a:pPr>
            <a:r>
              <a:rPr lang="en-US" sz="1150" b="1" dirty="0">
                <a:solidFill>
                  <a:srgbClr val="9199A1"/>
                </a:solidFill>
                <a:latin typeface="JetBrains Mono" pitchFamily="34" charset="0"/>
                <a:ea typeface="JetBrains Mono" pitchFamily="34" charset="-122"/>
                <a:cs typeface="JetBrains Mono" pitchFamily="34" charset="-120"/>
              </a:rPr>
              <a:t>04</a:t>
            </a:r>
            <a:endParaRPr lang="en-US" sz="1150" dirty="0"/>
          </a:p>
        </p:txBody>
      </p:sp>
      <p:sp>
        <p:nvSpPr>
          <p:cNvPr id="30" name="Text 27"/>
          <p:cNvSpPr/>
          <p:nvPr/>
        </p:nvSpPr>
        <p:spPr>
          <a:xfrm>
            <a:off x="1325880" y="3694176"/>
            <a:ext cx="2834640" cy="292608"/>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Writing Planner</a:t>
            </a:r>
            <a:endParaRPr lang="en-US" sz="1300" dirty="0"/>
          </a:p>
        </p:txBody>
      </p:sp>
      <p:sp>
        <p:nvSpPr>
          <p:cNvPr id="31" name="Text 28"/>
          <p:cNvSpPr/>
          <p:nvPr/>
        </p:nvSpPr>
        <p:spPr>
          <a:xfrm>
            <a:off x="4251960" y="3657600"/>
            <a:ext cx="7863840" cy="502920"/>
          </a:xfrm>
          <a:prstGeom prst="rect">
            <a:avLst/>
          </a:prstGeom>
          <a:noFill/>
          <a:ln/>
        </p:spPr>
        <p:txBody>
          <a:bodyPr wrap="square" lIns="0" tIns="0" rIns="0" bIns="0" rtlCol="0" anchor="t"/>
          <a:lstStyle/>
          <a:p>
            <a:pPr indent="0" marL="0">
              <a:lnSpc>
                <a:spcPts val="1500"/>
              </a:lnSpc>
              <a:buNone/>
            </a:pPr>
            <a:r>
              <a:rPr lang="en-US" sz="1100" dirty="0">
                <a:solidFill>
                  <a:srgbClr val="636D78"/>
                </a:solidFill>
                <a:latin typeface="Poppins" pitchFamily="34" charset="0"/>
                <a:ea typeface="Poppins" pitchFamily="34" charset="-122"/>
                <a:cs typeface="Poppins" pitchFamily="34" charset="-120"/>
              </a:rPr>
              <a:t>A week-by-week writing schedule, calculated from your submission deadline.</a:t>
            </a:r>
            <a:endParaRPr lang="en-US" sz="1100" dirty="0"/>
          </a:p>
        </p:txBody>
      </p:sp>
      <p:sp>
        <p:nvSpPr>
          <p:cNvPr id="32" name="Shape 29"/>
          <p:cNvSpPr/>
          <p:nvPr/>
        </p:nvSpPr>
        <p:spPr>
          <a:xfrm>
            <a:off x="640080" y="4453128"/>
            <a:ext cx="10881360" cy="0"/>
          </a:xfrm>
          <a:prstGeom prst="line">
            <a:avLst/>
          </a:prstGeom>
          <a:noFill/>
          <a:ln w="9525">
            <a:solidFill>
              <a:srgbClr val="D9DEE3"/>
            </a:solidFill>
            <a:prstDash val="solid"/>
          </a:ln>
        </p:spPr>
      </p:sp>
      <p:sp>
        <p:nvSpPr>
          <p:cNvPr id="33" name="Shape 30"/>
          <p:cNvSpPr/>
          <p:nvPr/>
        </p:nvSpPr>
        <p:spPr>
          <a:xfrm>
            <a:off x="676656" y="4594860"/>
            <a:ext cx="512064" cy="512064"/>
          </a:xfrm>
          <a:prstGeom prst="ellipse">
            <a:avLst/>
          </a:prstGeom>
          <a:solidFill>
            <a:srgbClr val="FFFFFF"/>
          </a:solidFill>
          <a:ln w="12700">
            <a:solidFill>
              <a:srgbClr val="D9DEE3"/>
            </a:solidFill>
            <a:prstDash val="solid"/>
          </a:ln>
        </p:spPr>
      </p:sp>
      <p:sp>
        <p:nvSpPr>
          <p:cNvPr id="34" name="Text 31"/>
          <p:cNvSpPr/>
          <p:nvPr/>
        </p:nvSpPr>
        <p:spPr>
          <a:xfrm>
            <a:off x="676656" y="4594860"/>
            <a:ext cx="512064" cy="512064"/>
          </a:xfrm>
          <a:prstGeom prst="rect">
            <a:avLst/>
          </a:prstGeom>
          <a:noFill/>
          <a:ln/>
        </p:spPr>
        <p:txBody>
          <a:bodyPr wrap="square" lIns="0" tIns="0" rIns="0" bIns="0" rtlCol="0" anchor="ctr"/>
          <a:lstStyle/>
          <a:p>
            <a:pPr algn="ctr" indent="0" marL="0">
              <a:buNone/>
            </a:pPr>
            <a:r>
              <a:rPr lang="en-US" sz="1150" b="1" dirty="0">
                <a:solidFill>
                  <a:srgbClr val="9199A1"/>
                </a:solidFill>
                <a:latin typeface="JetBrains Mono" pitchFamily="34" charset="0"/>
                <a:ea typeface="JetBrains Mono" pitchFamily="34" charset="-122"/>
                <a:cs typeface="JetBrains Mono" pitchFamily="34" charset="-120"/>
              </a:rPr>
              <a:t>05</a:t>
            </a:r>
            <a:endParaRPr lang="en-US" sz="1150" dirty="0"/>
          </a:p>
        </p:txBody>
      </p:sp>
      <p:sp>
        <p:nvSpPr>
          <p:cNvPr id="35" name="Text 32"/>
          <p:cNvSpPr/>
          <p:nvPr/>
        </p:nvSpPr>
        <p:spPr>
          <a:xfrm>
            <a:off x="1325880" y="4489704"/>
            <a:ext cx="2834640" cy="292608"/>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Project Reviewer</a:t>
            </a:r>
            <a:endParaRPr lang="en-US" sz="1300" dirty="0"/>
          </a:p>
        </p:txBody>
      </p:sp>
      <p:sp>
        <p:nvSpPr>
          <p:cNvPr id="36" name="Text 33"/>
          <p:cNvSpPr/>
          <p:nvPr/>
        </p:nvSpPr>
        <p:spPr>
          <a:xfrm>
            <a:off x="4251960" y="4453128"/>
            <a:ext cx="7863840" cy="502920"/>
          </a:xfrm>
          <a:prstGeom prst="rect">
            <a:avLst/>
          </a:prstGeom>
          <a:noFill/>
          <a:ln/>
        </p:spPr>
        <p:txBody>
          <a:bodyPr wrap="square" lIns="0" tIns="0" rIns="0" bIns="0" rtlCol="0" anchor="t"/>
          <a:lstStyle/>
          <a:p>
            <a:pPr indent="0" marL="0">
              <a:lnSpc>
                <a:spcPts val="1500"/>
              </a:lnSpc>
              <a:buNone/>
            </a:pPr>
            <a:r>
              <a:rPr lang="en-US" sz="1100" dirty="0">
                <a:solidFill>
                  <a:srgbClr val="636D78"/>
                </a:solidFill>
                <a:latin typeface="Poppins" pitchFamily="34" charset="0"/>
                <a:ea typeface="Poppins" pitchFamily="34" charset="-122"/>
                <a:cs typeface="Poppins" pitchFamily="34" charset="-120"/>
              </a:rPr>
              <a:t>AI feedback on structure, argument, and academic writing quality — chapter by chapter.</a:t>
            </a:r>
            <a:endParaRPr lang="en-US" sz="1100" dirty="0"/>
          </a:p>
        </p:txBody>
      </p:sp>
      <p:sp>
        <p:nvSpPr>
          <p:cNvPr id="37" name="Shape 34"/>
          <p:cNvSpPr/>
          <p:nvPr/>
        </p:nvSpPr>
        <p:spPr>
          <a:xfrm>
            <a:off x="640080" y="5248656"/>
            <a:ext cx="10881360" cy="0"/>
          </a:xfrm>
          <a:prstGeom prst="line">
            <a:avLst/>
          </a:prstGeom>
          <a:noFill/>
          <a:ln w="9525">
            <a:solidFill>
              <a:srgbClr val="D9DEE3"/>
            </a:solidFill>
            <a:prstDash val="solid"/>
          </a:ln>
        </p:spPr>
      </p:sp>
      <p:sp>
        <p:nvSpPr>
          <p:cNvPr id="38" name="Shape 35"/>
          <p:cNvSpPr/>
          <p:nvPr/>
        </p:nvSpPr>
        <p:spPr>
          <a:xfrm>
            <a:off x="676656" y="5390388"/>
            <a:ext cx="512064" cy="512064"/>
          </a:xfrm>
          <a:prstGeom prst="ellipse">
            <a:avLst/>
          </a:prstGeom>
          <a:solidFill>
            <a:srgbClr val="EFF6FF"/>
          </a:solidFill>
          <a:ln w="12700">
            <a:solidFill>
              <a:srgbClr val="B9D4FF"/>
            </a:solidFill>
            <a:prstDash val="solid"/>
          </a:ln>
        </p:spPr>
      </p:sp>
      <p:sp>
        <p:nvSpPr>
          <p:cNvPr id="39" name="Text 36"/>
          <p:cNvSpPr/>
          <p:nvPr/>
        </p:nvSpPr>
        <p:spPr>
          <a:xfrm>
            <a:off x="676656" y="5390388"/>
            <a:ext cx="512064" cy="512064"/>
          </a:xfrm>
          <a:prstGeom prst="rect">
            <a:avLst/>
          </a:prstGeom>
          <a:noFill/>
          <a:ln/>
        </p:spPr>
        <p:txBody>
          <a:bodyPr wrap="square" lIns="0" tIns="0" rIns="0" bIns="0" rtlCol="0" anchor="ctr"/>
          <a:lstStyle/>
          <a:p>
            <a:pPr algn="ctr" indent="0" marL="0">
              <a:buNone/>
            </a:pPr>
            <a:r>
              <a:rPr lang="en-US" sz="1150" b="1" dirty="0">
                <a:solidFill>
                  <a:srgbClr val="0066FF"/>
                </a:solidFill>
                <a:latin typeface="JetBrains Mono" pitchFamily="34" charset="0"/>
                <a:ea typeface="JetBrains Mono" pitchFamily="34" charset="-122"/>
                <a:cs typeface="JetBrains Mono" pitchFamily="34" charset="-120"/>
              </a:rPr>
              <a:t>06</a:t>
            </a:r>
            <a:endParaRPr lang="en-US" sz="1150" dirty="0"/>
          </a:p>
        </p:txBody>
      </p:sp>
      <p:sp>
        <p:nvSpPr>
          <p:cNvPr id="40" name="Text 37"/>
          <p:cNvSpPr/>
          <p:nvPr/>
        </p:nvSpPr>
        <p:spPr>
          <a:xfrm>
            <a:off x="1325880" y="5285232"/>
            <a:ext cx="2834640" cy="292608"/>
          </a:xfrm>
          <a:prstGeom prst="rect">
            <a:avLst/>
          </a:prstGeom>
          <a:noFill/>
          <a:ln/>
        </p:spPr>
        <p:txBody>
          <a:bodyPr wrap="square" lIns="0" tIns="0" rIns="0" bIns="0" rtlCol="0" anchor="ctr"/>
          <a:lstStyle/>
          <a:p>
            <a:pPr indent="0" marL="0">
              <a:buNone/>
            </a:pPr>
            <a:r>
              <a:rPr lang="en-US" sz="1300" dirty="0">
                <a:solidFill>
                  <a:srgbClr val="0D1B2A"/>
                </a:solidFill>
                <a:latin typeface="Poppins SemiBold" pitchFamily="34" charset="0"/>
                <a:ea typeface="Poppins SemiBold" pitchFamily="34" charset="-122"/>
                <a:cs typeface="Poppins SemiBold" pitchFamily="34" charset="-120"/>
              </a:rPr>
              <a:t>Defense Prep</a:t>
            </a:r>
            <a:endParaRPr lang="en-US" sz="1300" dirty="0"/>
          </a:p>
        </p:txBody>
      </p:sp>
      <p:sp>
        <p:nvSpPr>
          <p:cNvPr id="41" name="Text 38"/>
          <p:cNvSpPr/>
          <p:nvPr/>
        </p:nvSpPr>
        <p:spPr>
          <a:xfrm>
            <a:off x="4251960" y="5248656"/>
            <a:ext cx="7863840" cy="502920"/>
          </a:xfrm>
          <a:prstGeom prst="rect">
            <a:avLst/>
          </a:prstGeom>
          <a:noFill/>
          <a:ln/>
        </p:spPr>
        <p:txBody>
          <a:bodyPr wrap="square" lIns="0" tIns="0" rIns="0" bIns="0" rtlCol="0" anchor="t"/>
          <a:lstStyle/>
          <a:p>
            <a:pPr indent="0" marL="0">
              <a:lnSpc>
                <a:spcPts val="1500"/>
              </a:lnSpc>
              <a:buNone/>
            </a:pPr>
            <a:r>
              <a:rPr lang="en-US" sz="1100" dirty="0">
                <a:solidFill>
                  <a:srgbClr val="636D78"/>
                </a:solidFill>
                <a:latin typeface="Poppins" pitchFamily="34" charset="0"/>
                <a:ea typeface="Poppins" pitchFamily="34" charset="-122"/>
                <a:cs typeface="Poppins" pitchFamily="34" charset="-120"/>
              </a:rPr>
              <a:t>A full three-examiner defense simulation, with a readiness score and a certificate.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defens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06 / 10</a:t>
            </a:r>
            <a:endParaRPr lang="en-US" sz="1000" dirty="0"/>
          </a:p>
        </p:txBody>
      </p:sp>
      <p:sp>
        <p:nvSpPr>
          <p:cNvPr id="5" name="Text 2"/>
          <p:cNvSpPr/>
          <p:nvPr/>
        </p:nvSpPr>
        <p:spPr>
          <a:xfrm>
            <a:off x="640080" y="502920"/>
            <a:ext cx="5486400" cy="292608"/>
          </a:xfrm>
          <a:prstGeom prst="rect">
            <a:avLst/>
          </a:prstGeom>
          <a:noFill/>
          <a:ln/>
        </p:spPr>
        <p:txBody>
          <a:bodyPr wrap="square" lIns="0" tIns="0" rIns="0" bIns="0" rtlCol="0" anchor="ctr"/>
          <a:lstStyle/>
          <a:p>
            <a:pPr indent="0" marL="0">
              <a:buNone/>
            </a:pPr>
            <a:r>
              <a:rPr lang="en-US" sz="1100" spc="200" kern="0" dirty="0">
                <a:solidFill>
                  <a:srgbClr val="0066FF"/>
                </a:solidFill>
                <a:latin typeface="JetBrains Mono" pitchFamily="34" charset="0"/>
                <a:ea typeface="JetBrains Mono" pitchFamily="34" charset="-122"/>
                <a:cs typeface="JetBrains Mono" pitchFamily="34" charset="-120"/>
              </a:rPr>
              <a:t>THE CORE DIFFERENTIATOR</a:t>
            </a:r>
            <a:endParaRPr lang="en-US" sz="1100" dirty="0"/>
          </a:p>
        </p:txBody>
      </p:sp>
      <p:sp>
        <p:nvSpPr>
          <p:cNvPr id="6" name="Text 3"/>
          <p:cNvSpPr/>
          <p:nvPr/>
        </p:nvSpPr>
        <p:spPr>
          <a:xfrm>
            <a:off x="640080" y="822960"/>
            <a:ext cx="5669280" cy="1371600"/>
          </a:xfrm>
          <a:prstGeom prst="rect">
            <a:avLst/>
          </a:prstGeom>
          <a:noFill/>
          <a:ln/>
        </p:spPr>
        <p:txBody>
          <a:bodyPr wrap="square" lIns="0" tIns="0" rIns="0" bIns="0" rtlCol="0" anchor="ctr"/>
          <a:lstStyle/>
          <a:p>
            <a:pPr indent="0" marL="0">
              <a:lnSpc>
                <a:spcPts val="3200"/>
              </a:lnSpc>
              <a:buNone/>
            </a:pPr>
            <a:r>
              <a:rPr lang="en-US" sz="2700" dirty="0">
                <a:solidFill>
                  <a:srgbClr val="0D1B2A"/>
                </a:solidFill>
                <a:latin typeface="DM Serif Display" pitchFamily="34" charset="0"/>
                <a:ea typeface="DM Serif Display" pitchFamily="34" charset="-122"/>
                <a:cs typeface="DM Serif Display" pitchFamily="34" charset="-120"/>
              </a:rPr>
              <a:t>The moment everything else</a:t>
            </a:r>
            <a:endParaRPr lang="en-US" sz="2700" dirty="0"/>
          </a:p>
          <a:p>
            <a:pPr indent="0" marL="0">
              <a:lnSpc>
                <a:spcPts val="3200"/>
              </a:lnSpc>
              <a:buNone/>
            </a:pPr>
            <a:r>
              <a:rPr lang="en-US" sz="2700" dirty="0">
                <a:solidFill>
                  <a:srgbClr val="0D1B2A"/>
                </a:solidFill>
                <a:latin typeface="DM Serif Display" pitchFamily="34" charset="0"/>
                <a:ea typeface="DM Serif Display" pitchFamily="34" charset="-122"/>
                <a:cs typeface="DM Serif Display" pitchFamily="34" charset="-120"/>
              </a:rPr>
              <a:t>prepares you for.</a:t>
            </a:r>
            <a:endParaRPr lang="en-US" sz="2700" dirty="0"/>
          </a:p>
        </p:txBody>
      </p:sp>
      <p:sp>
        <p:nvSpPr>
          <p:cNvPr id="7" name="Text 4"/>
          <p:cNvSpPr/>
          <p:nvPr/>
        </p:nvSpPr>
        <p:spPr>
          <a:xfrm>
            <a:off x="640080" y="2286000"/>
            <a:ext cx="5029200" cy="1005840"/>
          </a:xfrm>
          <a:prstGeom prst="rect">
            <a:avLst/>
          </a:prstGeom>
          <a:noFill/>
          <a:ln/>
        </p:spPr>
        <p:txBody>
          <a:bodyPr wrap="square" lIns="0" tIns="0" rIns="0" bIns="0" rtlCol="0" anchor="ctr"/>
          <a:lstStyle/>
          <a:p>
            <a:pPr indent="0" marL="0">
              <a:lnSpc>
                <a:spcPts val="1900"/>
              </a:lnSpc>
              <a:buNone/>
            </a:pPr>
            <a:r>
              <a:rPr lang="en-US" sz="1250" dirty="0">
                <a:solidFill>
                  <a:srgbClr val="636D78"/>
                </a:solidFill>
                <a:latin typeface="Poppins" pitchFamily="34" charset="0"/>
                <a:ea typeface="Poppins" pitchFamily="34" charset="-122"/>
                <a:cs typeface="Poppins" pitchFamily="34" charset="-120"/>
              </a:rPr>
              <a:t>Three AI examiner personas question your work the way a real panel would. Questions adapt to your answers, so gaps get found before the real thing does.</a:t>
            </a:r>
            <a:endParaRPr lang="en-US" sz="1250" dirty="0"/>
          </a:p>
        </p:txBody>
      </p:sp>
      <p:sp>
        <p:nvSpPr>
          <p:cNvPr id="8" name="Shape 5"/>
          <p:cNvSpPr/>
          <p:nvPr/>
        </p:nvSpPr>
        <p:spPr>
          <a:xfrm>
            <a:off x="640080" y="3520440"/>
            <a:ext cx="1600200" cy="1051560"/>
          </a:xfrm>
          <a:prstGeom prst="roundRect">
            <a:avLst>
              <a:gd name="adj" fmla="val 7826"/>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9" name="Text 6"/>
          <p:cNvSpPr/>
          <p:nvPr/>
        </p:nvSpPr>
        <p:spPr>
          <a:xfrm>
            <a:off x="822960" y="3657600"/>
            <a:ext cx="1234440" cy="457200"/>
          </a:xfrm>
          <a:prstGeom prst="rect">
            <a:avLst/>
          </a:prstGeom>
          <a:noFill/>
          <a:ln/>
        </p:spPr>
        <p:txBody>
          <a:bodyPr wrap="square" lIns="0" tIns="0" rIns="0" bIns="0" rtlCol="0" anchor="ctr"/>
          <a:lstStyle/>
          <a:p>
            <a:pPr indent="0" marL="0">
              <a:buNone/>
            </a:pPr>
            <a:r>
              <a:rPr lang="en-US" sz="2200" b="1" dirty="0">
                <a:solidFill>
                  <a:srgbClr val="0066FF"/>
                </a:solidFill>
                <a:latin typeface="JetBrains Mono" pitchFamily="34" charset="0"/>
                <a:ea typeface="JetBrains Mono" pitchFamily="34" charset="-122"/>
                <a:cs typeface="JetBrains Mono" pitchFamily="34" charset="-120"/>
              </a:rPr>
              <a:t>3</a:t>
            </a:r>
            <a:endParaRPr lang="en-US" sz="2200" dirty="0"/>
          </a:p>
        </p:txBody>
      </p:sp>
      <p:sp>
        <p:nvSpPr>
          <p:cNvPr id="10" name="Text 7"/>
          <p:cNvSpPr/>
          <p:nvPr/>
        </p:nvSpPr>
        <p:spPr>
          <a:xfrm>
            <a:off x="822960" y="4142232"/>
            <a:ext cx="1325880" cy="365760"/>
          </a:xfrm>
          <a:prstGeom prst="rect">
            <a:avLst/>
          </a:prstGeom>
          <a:noFill/>
          <a:ln/>
        </p:spPr>
        <p:txBody>
          <a:bodyPr wrap="square" lIns="0" tIns="0" rIns="0" bIns="0" rtlCol="0" anchor="ctr"/>
          <a:lstStyle/>
          <a:p>
            <a:pPr indent="0" marL="0">
              <a:lnSpc>
                <a:spcPts val="1200"/>
              </a:lnSpc>
              <a:buNone/>
            </a:pPr>
            <a:r>
              <a:rPr lang="en-US" sz="950" dirty="0">
                <a:solidFill>
                  <a:srgbClr val="636D78"/>
                </a:solidFill>
                <a:latin typeface="Poppins" pitchFamily="34" charset="0"/>
                <a:ea typeface="Poppins" pitchFamily="34" charset="-122"/>
                <a:cs typeface="Poppins" pitchFamily="34" charset="-120"/>
              </a:rPr>
              <a:t>Examiner</a:t>
            </a:r>
            <a:endParaRPr lang="en-US" sz="950" dirty="0"/>
          </a:p>
          <a:p>
            <a:pPr indent="0" marL="0">
              <a:lnSpc>
                <a:spcPts val="1200"/>
              </a:lnSpc>
              <a:buNone/>
            </a:pPr>
            <a:r>
              <a:rPr lang="en-US" sz="950" dirty="0">
                <a:solidFill>
                  <a:srgbClr val="636D78"/>
                </a:solidFill>
                <a:latin typeface="Poppins" pitchFamily="34" charset="0"/>
                <a:ea typeface="Poppins" pitchFamily="34" charset="-122"/>
                <a:cs typeface="Poppins" pitchFamily="34" charset="-120"/>
              </a:rPr>
              <a:t>personas</a:t>
            </a:r>
            <a:endParaRPr lang="en-US" sz="950" dirty="0"/>
          </a:p>
        </p:txBody>
      </p:sp>
      <p:sp>
        <p:nvSpPr>
          <p:cNvPr id="11" name="Shape 8"/>
          <p:cNvSpPr/>
          <p:nvPr/>
        </p:nvSpPr>
        <p:spPr>
          <a:xfrm>
            <a:off x="2377440" y="3520440"/>
            <a:ext cx="1600200" cy="1051560"/>
          </a:xfrm>
          <a:prstGeom prst="roundRect">
            <a:avLst>
              <a:gd name="adj" fmla="val 7826"/>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12" name="Text 9"/>
          <p:cNvSpPr/>
          <p:nvPr/>
        </p:nvSpPr>
        <p:spPr>
          <a:xfrm>
            <a:off x="2560320" y="3657600"/>
            <a:ext cx="1234440" cy="457200"/>
          </a:xfrm>
          <a:prstGeom prst="rect">
            <a:avLst/>
          </a:prstGeom>
          <a:noFill/>
          <a:ln/>
        </p:spPr>
        <p:txBody>
          <a:bodyPr wrap="square" lIns="0" tIns="0" rIns="0" bIns="0" rtlCol="0" anchor="ctr"/>
          <a:lstStyle/>
          <a:p>
            <a:pPr indent="0" marL="0">
              <a:buNone/>
            </a:pPr>
            <a:r>
              <a:rPr lang="en-US" sz="2200" b="1" dirty="0">
                <a:solidFill>
                  <a:srgbClr val="0066FF"/>
                </a:solidFill>
                <a:latin typeface="JetBrains Mono" pitchFamily="34" charset="0"/>
                <a:ea typeface="JetBrains Mono" pitchFamily="34" charset="-122"/>
                <a:cs typeface="JetBrains Mono" pitchFamily="34" charset="-120"/>
              </a:rPr>
              <a:t>3</a:t>
            </a:r>
            <a:endParaRPr lang="en-US" sz="2200" dirty="0"/>
          </a:p>
        </p:txBody>
      </p:sp>
      <p:sp>
        <p:nvSpPr>
          <p:cNvPr id="13" name="Text 10"/>
          <p:cNvSpPr/>
          <p:nvPr/>
        </p:nvSpPr>
        <p:spPr>
          <a:xfrm>
            <a:off x="2560320" y="4142232"/>
            <a:ext cx="1325880" cy="365760"/>
          </a:xfrm>
          <a:prstGeom prst="rect">
            <a:avLst/>
          </a:prstGeom>
          <a:noFill/>
          <a:ln/>
        </p:spPr>
        <p:txBody>
          <a:bodyPr wrap="square" lIns="0" tIns="0" rIns="0" bIns="0" rtlCol="0" anchor="ctr"/>
          <a:lstStyle/>
          <a:p>
            <a:pPr indent="0" marL="0">
              <a:lnSpc>
                <a:spcPts val="1200"/>
              </a:lnSpc>
              <a:buNone/>
            </a:pPr>
            <a:r>
              <a:rPr lang="en-US" sz="950" dirty="0">
                <a:solidFill>
                  <a:srgbClr val="636D78"/>
                </a:solidFill>
                <a:latin typeface="Poppins" pitchFamily="34" charset="0"/>
                <a:ea typeface="Poppins" pitchFamily="34" charset="-122"/>
                <a:cs typeface="Poppins" pitchFamily="34" charset="-120"/>
              </a:rPr>
              <a:t>Free trial</a:t>
            </a:r>
            <a:endParaRPr lang="en-US" sz="950" dirty="0"/>
          </a:p>
          <a:p>
            <a:pPr indent="0" marL="0">
              <a:lnSpc>
                <a:spcPts val="1200"/>
              </a:lnSpc>
              <a:buNone/>
            </a:pPr>
            <a:r>
              <a:rPr lang="en-US" sz="950" dirty="0">
                <a:solidFill>
                  <a:srgbClr val="636D78"/>
                </a:solidFill>
                <a:latin typeface="Poppins" pitchFamily="34" charset="0"/>
                <a:ea typeface="Poppins" pitchFamily="34" charset="-122"/>
                <a:cs typeface="Poppins" pitchFamily="34" charset="-120"/>
              </a:rPr>
              <a:t>questions</a:t>
            </a:r>
            <a:endParaRPr lang="en-US" sz="950" dirty="0"/>
          </a:p>
        </p:txBody>
      </p:sp>
      <p:sp>
        <p:nvSpPr>
          <p:cNvPr id="14" name="Shape 11"/>
          <p:cNvSpPr/>
          <p:nvPr/>
        </p:nvSpPr>
        <p:spPr>
          <a:xfrm>
            <a:off x="4114800" y="3520440"/>
            <a:ext cx="1600200" cy="1051560"/>
          </a:xfrm>
          <a:prstGeom prst="roundRect">
            <a:avLst>
              <a:gd name="adj" fmla="val 7826"/>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15" name="Text 12"/>
          <p:cNvSpPr/>
          <p:nvPr/>
        </p:nvSpPr>
        <p:spPr>
          <a:xfrm>
            <a:off x="4297680" y="3657600"/>
            <a:ext cx="1234440" cy="457200"/>
          </a:xfrm>
          <a:prstGeom prst="rect">
            <a:avLst/>
          </a:prstGeom>
          <a:noFill/>
          <a:ln/>
        </p:spPr>
        <p:txBody>
          <a:bodyPr wrap="square" lIns="0" tIns="0" rIns="0" bIns="0" rtlCol="0" anchor="ctr"/>
          <a:lstStyle/>
          <a:p>
            <a:pPr indent="0" marL="0">
              <a:buNone/>
            </a:pPr>
            <a:r>
              <a:rPr lang="en-US" sz="2200" b="1" dirty="0">
                <a:solidFill>
                  <a:srgbClr val="0066FF"/>
                </a:solidFill>
                <a:latin typeface="JetBrains Mono" pitchFamily="34" charset="0"/>
                <a:ea typeface="JetBrains Mono" pitchFamily="34" charset="-122"/>
                <a:cs typeface="JetBrains Mono" pitchFamily="34" charset="-120"/>
              </a:rPr>
              <a:t>7/10+</a:t>
            </a:r>
            <a:endParaRPr lang="en-US" sz="2200" dirty="0"/>
          </a:p>
        </p:txBody>
      </p:sp>
      <p:sp>
        <p:nvSpPr>
          <p:cNvPr id="16" name="Text 13"/>
          <p:cNvSpPr/>
          <p:nvPr/>
        </p:nvSpPr>
        <p:spPr>
          <a:xfrm>
            <a:off x="4297680" y="4142232"/>
            <a:ext cx="1325880" cy="365760"/>
          </a:xfrm>
          <a:prstGeom prst="rect">
            <a:avLst/>
          </a:prstGeom>
          <a:noFill/>
          <a:ln/>
        </p:spPr>
        <p:txBody>
          <a:bodyPr wrap="square" lIns="0" tIns="0" rIns="0" bIns="0" rtlCol="0" anchor="ctr"/>
          <a:lstStyle/>
          <a:p>
            <a:pPr indent="0" marL="0">
              <a:lnSpc>
                <a:spcPts val="1200"/>
              </a:lnSpc>
              <a:buNone/>
            </a:pPr>
            <a:r>
              <a:rPr lang="en-US" sz="950" dirty="0">
                <a:solidFill>
                  <a:srgbClr val="636D78"/>
                </a:solidFill>
                <a:latin typeface="Poppins" pitchFamily="34" charset="0"/>
                <a:ea typeface="Poppins" pitchFamily="34" charset="-122"/>
                <a:cs typeface="Poppins" pitchFamily="34" charset="-120"/>
              </a:rPr>
              <a:t>Unlocks your</a:t>
            </a:r>
            <a:endParaRPr lang="en-US" sz="950" dirty="0"/>
          </a:p>
          <a:p>
            <a:pPr indent="0" marL="0">
              <a:lnSpc>
                <a:spcPts val="1200"/>
              </a:lnSpc>
              <a:buNone/>
            </a:pPr>
            <a:r>
              <a:rPr lang="en-US" sz="950" dirty="0">
                <a:solidFill>
                  <a:srgbClr val="636D78"/>
                </a:solidFill>
                <a:latin typeface="Poppins" pitchFamily="34" charset="0"/>
                <a:ea typeface="Poppins" pitchFamily="34" charset="-122"/>
                <a:cs typeface="Poppins" pitchFamily="34" charset="-120"/>
              </a:rPr>
              <a:t>certificate</a:t>
            </a:r>
            <a:endParaRPr lang="en-US" sz="950" dirty="0"/>
          </a:p>
        </p:txBody>
      </p:sp>
      <p:sp>
        <p:nvSpPr>
          <p:cNvPr id="17" name="Shape 14"/>
          <p:cNvSpPr/>
          <p:nvPr/>
        </p:nvSpPr>
        <p:spPr>
          <a:xfrm>
            <a:off x="6537960" y="1965960"/>
            <a:ext cx="4983480" cy="1051560"/>
          </a:xfrm>
          <a:prstGeom prst="roundRect">
            <a:avLst>
              <a:gd name="adj" fmla="val 7826"/>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18" name="Text 15"/>
          <p:cNvSpPr/>
          <p:nvPr/>
        </p:nvSpPr>
        <p:spPr>
          <a:xfrm>
            <a:off x="6812280" y="1965960"/>
            <a:ext cx="457200" cy="1051560"/>
          </a:xfrm>
          <a:prstGeom prst="rect">
            <a:avLst/>
          </a:prstGeom>
          <a:noFill/>
          <a:ln/>
        </p:spPr>
        <p:txBody>
          <a:bodyPr wrap="square" lIns="0" tIns="0" rIns="0" bIns="0" rtlCol="0" anchor="ctr"/>
          <a:lstStyle/>
          <a:p>
            <a:pPr indent="0" marL="0">
              <a:buNone/>
            </a:pPr>
            <a:r>
              <a:rPr lang="en-US" sz="1100" b="1" dirty="0">
                <a:solidFill>
                  <a:srgbClr val="0066FF"/>
                </a:solidFill>
                <a:latin typeface="JetBrains Mono" pitchFamily="34" charset="0"/>
                <a:ea typeface="JetBrains Mono" pitchFamily="34" charset="-122"/>
                <a:cs typeface="JetBrains Mono" pitchFamily="34" charset="-120"/>
              </a:rPr>
              <a:t>01</a:t>
            </a:r>
            <a:endParaRPr lang="en-US" sz="1100" dirty="0"/>
          </a:p>
        </p:txBody>
      </p:sp>
      <p:sp>
        <p:nvSpPr>
          <p:cNvPr id="19" name="Text 16"/>
          <p:cNvSpPr/>
          <p:nvPr/>
        </p:nvSpPr>
        <p:spPr>
          <a:xfrm>
            <a:off x="7315200" y="1965960"/>
            <a:ext cx="3931920" cy="1051560"/>
          </a:xfrm>
          <a:prstGeom prst="rect">
            <a:avLst/>
          </a:prstGeom>
          <a:noFill/>
          <a:ln/>
        </p:spPr>
        <p:txBody>
          <a:bodyPr wrap="square" lIns="0" tIns="0" rIns="0" bIns="0" rtlCol="0" anchor="ctr"/>
          <a:lstStyle/>
          <a:p>
            <a:pPr indent="0" marL="0">
              <a:lnSpc>
                <a:spcPts val="1600"/>
              </a:lnSpc>
              <a:buNone/>
            </a:pPr>
            <a:r>
              <a:rPr lang="en-US" sz="1150" dirty="0">
                <a:solidFill>
                  <a:srgbClr val="0D1B2A"/>
                </a:solidFill>
                <a:latin typeface="Poppins Medium" pitchFamily="34" charset="0"/>
                <a:ea typeface="Poppins Medium" pitchFamily="34" charset="-122"/>
                <a:cs typeface="Poppins Medium" pitchFamily="34" charset="-120"/>
              </a:rPr>
              <a:t>The Methodologist — probes your research design and sampling choices.</a:t>
            </a:r>
            <a:endParaRPr lang="en-US" sz="1150" dirty="0"/>
          </a:p>
        </p:txBody>
      </p:sp>
      <p:sp>
        <p:nvSpPr>
          <p:cNvPr id="20" name="Shape 17"/>
          <p:cNvSpPr/>
          <p:nvPr/>
        </p:nvSpPr>
        <p:spPr>
          <a:xfrm>
            <a:off x="6537960" y="3218688"/>
            <a:ext cx="4983480" cy="1051560"/>
          </a:xfrm>
          <a:prstGeom prst="roundRect">
            <a:avLst>
              <a:gd name="adj" fmla="val 7826"/>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21" name="Text 18"/>
          <p:cNvSpPr/>
          <p:nvPr/>
        </p:nvSpPr>
        <p:spPr>
          <a:xfrm>
            <a:off x="6812280" y="3218688"/>
            <a:ext cx="457200" cy="1051560"/>
          </a:xfrm>
          <a:prstGeom prst="rect">
            <a:avLst/>
          </a:prstGeom>
          <a:noFill/>
          <a:ln/>
        </p:spPr>
        <p:txBody>
          <a:bodyPr wrap="square" lIns="0" tIns="0" rIns="0" bIns="0" rtlCol="0" anchor="ctr"/>
          <a:lstStyle/>
          <a:p>
            <a:pPr indent="0" marL="0">
              <a:buNone/>
            </a:pPr>
            <a:r>
              <a:rPr lang="en-US" sz="1100" b="1" dirty="0">
                <a:solidFill>
                  <a:srgbClr val="0066FF"/>
                </a:solidFill>
                <a:latin typeface="JetBrains Mono" pitchFamily="34" charset="0"/>
                <a:ea typeface="JetBrains Mono" pitchFamily="34" charset="-122"/>
                <a:cs typeface="JetBrains Mono" pitchFamily="34" charset="-120"/>
              </a:rPr>
              <a:t>02</a:t>
            </a:r>
            <a:endParaRPr lang="en-US" sz="1100" dirty="0"/>
          </a:p>
        </p:txBody>
      </p:sp>
      <p:sp>
        <p:nvSpPr>
          <p:cNvPr id="22" name="Text 19"/>
          <p:cNvSpPr/>
          <p:nvPr/>
        </p:nvSpPr>
        <p:spPr>
          <a:xfrm>
            <a:off x="7315200" y="3218688"/>
            <a:ext cx="3931920" cy="1051560"/>
          </a:xfrm>
          <a:prstGeom prst="rect">
            <a:avLst/>
          </a:prstGeom>
          <a:noFill/>
          <a:ln/>
        </p:spPr>
        <p:txBody>
          <a:bodyPr wrap="square" lIns="0" tIns="0" rIns="0" bIns="0" rtlCol="0" anchor="ctr"/>
          <a:lstStyle/>
          <a:p>
            <a:pPr indent="0" marL="0">
              <a:lnSpc>
                <a:spcPts val="1600"/>
              </a:lnSpc>
              <a:buNone/>
            </a:pPr>
            <a:r>
              <a:rPr lang="en-US" sz="1150" dirty="0">
                <a:solidFill>
                  <a:srgbClr val="0D1B2A"/>
                </a:solidFill>
                <a:latin typeface="Poppins Medium" pitchFamily="34" charset="0"/>
                <a:ea typeface="Poppins Medium" pitchFamily="34" charset="-122"/>
                <a:cs typeface="Poppins Medium" pitchFamily="34" charset="-120"/>
              </a:rPr>
              <a:t>The Subject Expert — tests how deep your knowledge of the literature really goes.</a:t>
            </a:r>
            <a:endParaRPr lang="en-US" sz="1150" dirty="0"/>
          </a:p>
        </p:txBody>
      </p:sp>
      <p:sp>
        <p:nvSpPr>
          <p:cNvPr id="23" name="Shape 20"/>
          <p:cNvSpPr/>
          <p:nvPr/>
        </p:nvSpPr>
        <p:spPr>
          <a:xfrm>
            <a:off x="6537960" y="4471416"/>
            <a:ext cx="4983480" cy="1051560"/>
          </a:xfrm>
          <a:prstGeom prst="roundRect">
            <a:avLst>
              <a:gd name="adj" fmla="val 7826"/>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sp>
        <p:nvSpPr>
          <p:cNvPr id="24" name="Text 21"/>
          <p:cNvSpPr/>
          <p:nvPr/>
        </p:nvSpPr>
        <p:spPr>
          <a:xfrm>
            <a:off x="6812280" y="4471416"/>
            <a:ext cx="457200" cy="1051560"/>
          </a:xfrm>
          <a:prstGeom prst="rect">
            <a:avLst/>
          </a:prstGeom>
          <a:noFill/>
          <a:ln/>
        </p:spPr>
        <p:txBody>
          <a:bodyPr wrap="square" lIns="0" tIns="0" rIns="0" bIns="0" rtlCol="0" anchor="ctr"/>
          <a:lstStyle/>
          <a:p>
            <a:pPr indent="0" marL="0">
              <a:buNone/>
            </a:pPr>
            <a:r>
              <a:rPr lang="en-US" sz="1100" b="1" dirty="0">
                <a:solidFill>
                  <a:srgbClr val="0066FF"/>
                </a:solidFill>
                <a:latin typeface="JetBrains Mono" pitchFamily="34" charset="0"/>
                <a:ea typeface="JetBrains Mono" pitchFamily="34" charset="-122"/>
                <a:cs typeface="JetBrains Mono" pitchFamily="34" charset="-120"/>
              </a:rPr>
              <a:t>03</a:t>
            </a:r>
            <a:endParaRPr lang="en-US" sz="1100" dirty="0"/>
          </a:p>
        </p:txBody>
      </p:sp>
      <p:sp>
        <p:nvSpPr>
          <p:cNvPr id="25" name="Text 22"/>
          <p:cNvSpPr/>
          <p:nvPr/>
        </p:nvSpPr>
        <p:spPr>
          <a:xfrm>
            <a:off x="7315200" y="4471416"/>
            <a:ext cx="3931920" cy="1051560"/>
          </a:xfrm>
          <a:prstGeom prst="rect">
            <a:avLst/>
          </a:prstGeom>
          <a:noFill/>
          <a:ln/>
        </p:spPr>
        <p:txBody>
          <a:bodyPr wrap="square" lIns="0" tIns="0" rIns="0" bIns="0" rtlCol="0" anchor="ctr"/>
          <a:lstStyle/>
          <a:p>
            <a:pPr indent="0" marL="0">
              <a:lnSpc>
                <a:spcPts val="1600"/>
              </a:lnSpc>
              <a:buNone/>
            </a:pPr>
            <a:r>
              <a:rPr lang="en-US" sz="1150" dirty="0">
                <a:solidFill>
                  <a:srgbClr val="0D1B2A"/>
                </a:solidFill>
                <a:latin typeface="Poppins Medium" pitchFamily="34" charset="0"/>
                <a:ea typeface="Poppins Medium" pitchFamily="34" charset="-122"/>
                <a:cs typeface="Poppins Medium" pitchFamily="34" charset="-120"/>
              </a:rPr>
              <a:t>The External Examiner — the hardest questions, saved for last.</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audienc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07 / 10</a:t>
            </a:r>
            <a:endParaRPr lang="en-US" sz="1000" dirty="0"/>
          </a:p>
        </p:txBody>
      </p:sp>
      <p:sp>
        <p:nvSpPr>
          <p:cNvPr id="5" name="Text 2"/>
          <p:cNvSpPr/>
          <p:nvPr/>
        </p:nvSpPr>
        <p:spPr>
          <a:xfrm>
            <a:off x="640080" y="1371600"/>
            <a:ext cx="5486400" cy="292608"/>
          </a:xfrm>
          <a:prstGeom prst="rect">
            <a:avLst/>
          </a:prstGeom>
          <a:noFill/>
          <a:ln/>
        </p:spPr>
        <p:txBody>
          <a:bodyPr wrap="square" lIns="0" tIns="0" rIns="0" bIns="0" rtlCol="0" anchor="ctr"/>
          <a:lstStyle/>
          <a:p>
            <a:pPr indent="0" marL="0">
              <a:buNone/>
            </a:pPr>
            <a:r>
              <a:rPr lang="en-US" sz="1100" spc="200" kern="0" dirty="0">
                <a:solidFill>
                  <a:srgbClr val="0066FF"/>
                </a:solidFill>
                <a:latin typeface="JetBrains Mono" pitchFamily="34" charset="0"/>
                <a:ea typeface="JetBrains Mono" pitchFamily="34" charset="-122"/>
                <a:cs typeface="JetBrains Mono" pitchFamily="34" charset="-120"/>
              </a:rPr>
              <a:t>WHO IT'S FOR</a:t>
            </a:r>
            <a:endParaRPr lang="en-US" sz="1100" dirty="0"/>
          </a:p>
        </p:txBody>
      </p:sp>
      <p:sp>
        <p:nvSpPr>
          <p:cNvPr id="6" name="Text 3"/>
          <p:cNvSpPr/>
          <p:nvPr/>
        </p:nvSpPr>
        <p:spPr>
          <a:xfrm>
            <a:off x="640080" y="1737360"/>
            <a:ext cx="9601200" cy="1645920"/>
          </a:xfrm>
          <a:prstGeom prst="rect">
            <a:avLst/>
          </a:prstGeom>
          <a:noFill/>
          <a:ln/>
        </p:spPr>
        <p:txBody>
          <a:bodyPr wrap="square" lIns="0" tIns="0" rIns="0" bIns="0" rtlCol="0" anchor="ctr"/>
          <a:lstStyle/>
          <a:p>
            <a:pPr indent="0" marL="0">
              <a:lnSpc>
                <a:spcPts val="4000"/>
              </a:lnSpc>
              <a:buNone/>
            </a:pPr>
            <a:r>
              <a:rPr lang="en-US" sz="3400" dirty="0">
                <a:solidFill>
                  <a:srgbClr val="0D1B2A"/>
                </a:solidFill>
                <a:latin typeface="DM Serif Display" pitchFamily="34" charset="0"/>
                <a:ea typeface="DM Serif Display" pitchFamily="34" charset="-122"/>
                <a:cs typeface="DM Serif Display" pitchFamily="34" charset="-120"/>
              </a:rPr>
              <a:t>Built for one group:</a:t>
            </a:r>
            <a:endParaRPr lang="en-US" sz="3400" dirty="0"/>
          </a:p>
          <a:p>
            <a:pPr indent="0" marL="0">
              <a:lnSpc>
                <a:spcPts val="4000"/>
              </a:lnSpc>
              <a:buNone/>
            </a:pPr>
            <a:r>
              <a:rPr lang="en-US" sz="3400" dirty="0">
                <a:solidFill>
                  <a:srgbClr val="0D1B2A"/>
                </a:solidFill>
                <a:latin typeface="DM Serif Display" pitchFamily="34" charset="0"/>
                <a:ea typeface="DM Serif Display" pitchFamily="34" charset="-122"/>
                <a:cs typeface="DM Serif Display" pitchFamily="34" charset="-120"/>
              </a:rPr>
              <a:t>Nigerian final year students.</a:t>
            </a:r>
            <a:endParaRPr lang="en-US" sz="3400" dirty="0"/>
          </a:p>
        </p:txBody>
      </p:sp>
      <p:sp>
        <p:nvSpPr>
          <p:cNvPr id="7" name="Text 4"/>
          <p:cNvSpPr/>
          <p:nvPr/>
        </p:nvSpPr>
        <p:spPr>
          <a:xfrm>
            <a:off x="640080" y="3429000"/>
            <a:ext cx="8686800" cy="1097280"/>
          </a:xfrm>
          <a:prstGeom prst="rect">
            <a:avLst/>
          </a:prstGeom>
          <a:noFill/>
          <a:ln/>
        </p:spPr>
        <p:txBody>
          <a:bodyPr wrap="square" lIns="0" tIns="0" rIns="0" bIns="0" rtlCol="0" anchor="ctr"/>
          <a:lstStyle/>
          <a:p>
            <a:pPr indent="0" marL="0">
              <a:lnSpc>
                <a:spcPts val="2000"/>
              </a:lnSpc>
              <a:buNone/>
            </a:pPr>
            <a:r>
              <a:rPr lang="en-US" sz="1350" dirty="0">
                <a:solidFill>
                  <a:srgbClr val="636D78"/>
                </a:solidFill>
                <a:latin typeface="Poppins" pitchFamily="34" charset="0"/>
                <a:ea typeface="Poppins" pitchFamily="34" charset="-122"/>
                <a:cs typeface="Poppins" pitchFamily="34" charset="-120"/>
              </a:rPr>
              <a:t>Every workflow, every prompt, and every examiner question is written for the Nigerian university context — your department, your level, your defense format. Not a generic study tool adapted for the market. Built for it from the start.</a:t>
            </a:r>
            <a:endParaRPr lang="en-US" sz="1350" dirty="0"/>
          </a:p>
        </p:txBody>
      </p:sp>
      <p:sp>
        <p:nvSpPr>
          <p:cNvPr id="8" name="Shape 5"/>
          <p:cNvSpPr/>
          <p:nvPr/>
        </p:nvSpPr>
        <p:spPr>
          <a:xfrm>
            <a:off x="640080" y="4709160"/>
            <a:ext cx="1408176" cy="402336"/>
          </a:xfrm>
          <a:prstGeom prst="roundRect">
            <a:avLst>
              <a:gd name="adj" fmla="val 50000"/>
            </a:avLst>
          </a:prstGeom>
          <a:solidFill>
            <a:srgbClr val="FFFFFF"/>
          </a:solidFill>
          <a:ln w="15875">
            <a:solidFill>
              <a:srgbClr val="D9DEE3"/>
            </a:solidFill>
            <a:prstDash val="solid"/>
          </a:ln>
        </p:spPr>
      </p:sp>
      <p:sp>
        <p:nvSpPr>
          <p:cNvPr id="9" name="Text 6"/>
          <p:cNvSpPr/>
          <p:nvPr/>
        </p:nvSpPr>
        <p:spPr>
          <a:xfrm>
            <a:off x="640080" y="4709160"/>
            <a:ext cx="1408176" cy="402336"/>
          </a:xfrm>
          <a:prstGeom prst="rect">
            <a:avLst/>
          </a:prstGeom>
          <a:noFill/>
          <a:ln/>
        </p:spPr>
        <p:txBody>
          <a:bodyPr wrap="square" lIns="0" tIns="0" rIns="0" bIns="0" rtlCol="0" anchor="ctr"/>
          <a:lstStyle/>
          <a:p>
            <a:pPr algn="ctr" indent="0" marL="0">
              <a:buNone/>
            </a:pPr>
            <a:r>
              <a:rPr lang="en-US" sz="1100" dirty="0">
                <a:solidFill>
                  <a:srgbClr val="0D1B2A"/>
                </a:solidFill>
                <a:latin typeface="Poppins Medium" pitchFamily="34" charset="0"/>
                <a:ea typeface="Poppins Medium" pitchFamily="34" charset="-122"/>
                <a:cs typeface="Poppins Medium" pitchFamily="34" charset="-120"/>
              </a:rPr>
              <a:t>300 level</a:t>
            </a:r>
            <a:endParaRPr lang="en-US" sz="1100" dirty="0"/>
          </a:p>
        </p:txBody>
      </p:sp>
      <p:sp>
        <p:nvSpPr>
          <p:cNvPr id="10" name="Shape 7"/>
          <p:cNvSpPr/>
          <p:nvPr/>
        </p:nvSpPr>
        <p:spPr>
          <a:xfrm>
            <a:off x="2231136" y="4709160"/>
            <a:ext cx="1408176" cy="402336"/>
          </a:xfrm>
          <a:prstGeom prst="roundRect">
            <a:avLst>
              <a:gd name="adj" fmla="val 50000"/>
            </a:avLst>
          </a:prstGeom>
          <a:solidFill>
            <a:srgbClr val="FFFFFF"/>
          </a:solidFill>
          <a:ln w="15875">
            <a:solidFill>
              <a:srgbClr val="D9DEE3"/>
            </a:solidFill>
            <a:prstDash val="solid"/>
          </a:ln>
        </p:spPr>
      </p:sp>
      <p:sp>
        <p:nvSpPr>
          <p:cNvPr id="11" name="Text 8"/>
          <p:cNvSpPr/>
          <p:nvPr/>
        </p:nvSpPr>
        <p:spPr>
          <a:xfrm>
            <a:off x="2231136" y="4709160"/>
            <a:ext cx="1408176" cy="402336"/>
          </a:xfrm>
          <a:prstGeom prst="rect">
            <a:avLst/>
          </a:prstGeom>
          <a:noFill/>
          <a:ln/>
        </p:spPr>
        <p:txBody>
          <a:bodyPr wrap="square" lIns="0" tIns="0" rIns="0" bIns="0" rtlCol="0" anchor="ctr"/>
          <a:lstStyle/>
          <a:p>
            <a:pPr algn="ctr" indent="0" marL="0">
              <a:buNone/>
            </a:pPr>
            <a:r>
              <a:rPr lang="en-US" sz="1100" dirty="0">
                <a:solidFill>
                  <a:srgbClr val="0D1B2A"/>
                </a:solidFill>
                <a:latin typeface="Poppins Medium" pitchFamily="34" charset="0"/>
                <a:ea typeface="Poppins Medium" pitchFamily="34" charset="-122"/>
                <a:cs typeface="Poppins Medium" pitchFamily="34" charset="-120"/>
              </a:rPr>
              <a:t>400 level</a:t>
            </a:r>
            <a:endParaRPr lang="en-US" sz="1100" dirty="0"/>
          </a:p>
        </p:txBody>
      </p:sp>
      <p:sp>
        <p:nvSpPr>
          <p:cNvPr id="12" name="Shape 9"/>
          <p:cNvSpPr/>
          <p:nvPr/>
        </p:nvSpPr>
        <p:spPr>
          <a:xfrm>
            <a:off x="3822192" y="4709160"/>
            <a:ext cx="1408176" cy="402336"/>
          </a:xfrm>
          <a:prstGeom prst="roundRect">
            <a:avLst>
              <a:gd name="adj" fmla="val 50000"/>
            </a:avLst>
          </a:prstGeom>
          <a:solidFill>
            <a:srgbClr val="FFFFFF"/>
          </a:solidFill>
          <a:ln w="15875">
            <a:solidFill>
              <a:srgbClr val="D9DEE3"/>
            </a:solidFill>
            <a:prstDash val="solid"/>
          </a:ln>
        </p:spPr>
      </p:sp>
      <p:sp>
        <p:nvSpPr>
          <p:cNvPr id="13" name="Text 10"/>
          <p:cNvSpPr/>
          <p:nvPr/>
        </p:nvSpPr>
        <p:spPr>
          <a:xfrm>
            <a:off x="3822192" y="4709160"/>
            <a:ext cx="1408176" cy="402336"/>
          </a:xfrm>
          <a:prstGeom prst="rect">
            <a:avLst/>
          </a:prstGeom>
          <a:noFill/>
          <a:ln/>
        </p:spPr>
        <p:txBody>
          <a:bodyPr wrap="square" lIns="0" tIns="0" rIns="0" bIns="0" rtlCol="0" anchor="ctr"/>
          <a:lstStyle/>
          <a:p>
            <a:pPr algn="ctr" indent="0" marL="0">
              <a:buNone/>
            </a:pPr>
            <a:r>
              <a:rPr lang="en-US" sz="1100" dirty="0">
                <a:solidFill>
                  <a:srgbClr val="0D1B2A"/>
                </a:solidFill>
                <a:latin typeface="Poppins Medium" pitchFamily="34" charset="0"/>
                <a:ea typeface="Poppins Medium" pitchFamily="34" charset="-122"/>
                <a:cs typeface="Poppins Medium" pitchFamily="34" charset="-120"/>
              </a:rPr>
              <a:t>500 level</a:t>
            </a:r>
            <a:endParaRPr lang="en-US" sz="1100" dirty="0"/>
          </a:p>
        </p:txBody>
      </p:sp>
      <p:sp>
        <p:nvSpPr>
          <p:cNvPr id="14" name="Shape 11"/>
          <p:cNvSpPr/>
          <p:nvPr/>
        </p:nvSpPr>
        <p:spPr>
          <a:xfrm>
            <a:off x="5413248" y="4709160"/>
            <a:ext cx="3218688" cy="402336"/>
          </a:xfrm>
          <a:prstGeom prst="roundRect">
            <a:avLst>
              <a:gd name="adj" fmla="val 50000"/>
            </a:avLst>
          </a:prstGeom>
          <a:solidFill>
            <a:srgbClr val="FFFFFF"/>
          </a:solidFill>
          <a:ln w="15875">
            <a:solidFill>
              <a:srgbClr val="D9DEE3"/>
            </a:solidFill>
            <a:prstDash val="solid"/>
          </a:ln>
        </p:spPr>
      </p:sp>
      <p:sp>
        <p:nvSpPr>
          <p:cNvPr id="15" name="Text 12"/>
          <p:cNvSpPr/>
          <p:nvPr/>
        </p:nvSpPr>
        <p:spPr>
          <a:xfrm>
            <a:off x="5413248" y="4709160"/>
            <a:ext cx="3218688" cy="402336"/>
          </a:xfrm>
          <a:prstGeom prst="rect">
            <a:avLst/>
          </a:prstGeom>
          <a:noFill/>
          <a:ln/>
        </p:spPr>
        <p:txBody>
          <a:bodyPr wrap="square" lIns="0" tIns="0" rIns="0" bIns="0" rtlCol="0" anchor="ctr"/>
          <a:lstStyle/>
          <a:p>
            <a:pPr algn="ctr" indent="0" marL="0">
              <a:buNone/>
            </a:pPr>
            <a:r>
              <a:rPr lang="en-US" sz="1100" dirty="0">
                <a:solidFill>
                  <a:srgbClr val="0D1B2A"/>
                </a:solidFill>
                <a:latin typeface="Poppins Medium" pitchFamily="34" charset="0"/>
                <a:ea typeface="Poppins Medium" pitchFamily="34" charset="-122"/>
                <a:cs typeface="Poppins Medium" pitchFamily="34" charset="-120"/>
              </a:rPr>
              <a:t>Any faculty, any department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6FF"/>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goal.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EFF6FF">
              <a:alpha val="64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08 / 10</a:t>
            </a:r>
            <a:endParaRPr lang="en-US" sz="1000" dirty="0"/>
          </a:p>
        </p:txBody>
      </p:sp>
      <p:sp>
        <p:nvSpPr>
          <p:cNvPr id="5" name="Text 2"/>
          <p:cNvSpPr/>
          <p:nvPr/>
        </p:nvSpPr>
        <p:spPr>
          <a:xfrm>
            <a:off x="0" y="1051560"/>
            <a:ext cx="12191695" cy="320040"/>
          </a:xfrm>
          <a:prstGeom prst="rect">
            <a:avLst/>
          </a:prstGeom>
          <a:noFill/>
          <a:ln/>
        </p:spPr>
        <p:txBody>
          <a:bodyPr wrap="square" lIns="0" tIns="0" rIns="0" bIns="0" rtlCol="0" anchor="ctr"/>
          <a:lstStyle/>
          <a:p>
            <a:pPr algn="ctr" indent="0" marL="0">
              <a:buNone/>
            </a:pPr>
            <a:r>
              <a:rPr lang="en-US" sz="1200" spc="250" kern="0" dirty="0">
                <a:solidFill>
                  <a:srgbClr val="0066FF"/>
                </a:solidFill>
                <a:latin typeface="JetBrains Mono" pitchFamily="34" charset="0"/>
                <a:ea typeface="JetBrains Mono" pitchFamily="34" charset="-122"/>
                <a:cs typeface="JetBrains Mono" pitchFamily="34" charset="-120"/>
              </a:rPr>
              <a:t>THE GOAL</a:t>
            </a:r>
            <a:endParaRPr lang="en-US" sz="1200" dirty="0"/>
          </a:p>
        </p:txBody>
      </p:sp>
      <p:sp>
        <p:nvSpPr>
          <p:cNvPr id="6" name="Text 3"/>
          <p:cNvSpPr/>
          <p:nvPr/>
        </p:nvSpPr>
        <p:spPr>
          <a:xfrm>
            <a:off x="1706728" y="1691640"/>
            <a:ext cx="8778240" cy="3383280"/>
          </a:xfrm>
          <a:prstGeom prst="rect">
            <a:avLst/>
          </a:prstGeom>
          <a:noFill/>
          <a:ln/>
        </p:spPr>
        <p:txBody>
          <a:bodyPr wrap="square" lIns="0" tIns="0" rIns="0" bIns="0" rtlCol="0" anchor="ctr"/>
          <a:lstStyle/>
          <a:p>
            <a:pPr algn="ctr" indent="0" marL="0">
              <a:lnSpc>
                <a:spcPts val="4000"/>
              </a:lnSpc>
              <a:buNone/>
            </a:pPr>
            <a:r>
              <a:rPr lang="en-US" sz="3000" dirty="0">
                <a:solidFill>
                  <a:srgbClr val="0D1B2A"/>
                </a:solidFill>
                <a:latin typeface="DM Serif Display" pitchFamily="34" charset="0"/>
                <a:ea typeface="DM Serif Display" pitchFamily="34" charset="-122"/>
                <a:cs typeface="DM Serif Display" pitchFamily="34" charset="-120"/>
              </a:rPr>
              <a:t>To help students through their research, through their writing, and all the way to their </a:t>
            </a:r>
            <a:pPr algn="ctr" indent="0" marL="0">
              <a:lnSpc>
                <a:spcPts val="4000"/>
              </a:lnSpc>
              <a:buNone/>
            </a:pPr>
            <a:r>
              <a:rPr lang="en-US" sz="3000" dirty="0">
                <a:solidFill>
                  <a:srgbClr val="0066FF"/>
                </a:solidFill>
                <a:latin typeface="DM Serif Display" pitchFamily="34" charset="0"/>
                <a:ea typeface="DM Serif Display" pitchFamily="34" charset="-122"/>
                <a:cs typeface="DM Serif Display" pitchFamily="34" charset="-120"/>
              </a:rPr>
              <a:t>defense</a:t>
            </a:r>
            <a:pPr algn="ctr" indent="0" marL="0">
              <a:lnSpc>
                <a:spcPts val="4000"/>
              </a:lnSpc>
              <a:buNone/>
            </a:pPr>
            <a:r>
              <a:rPr lang="en-US" sz="3000" dirty="0">
                <a:solidFill>
                  <a:srgbClr val="0D1B2A"/>
                </a:solidFill>
                <a:latin typeface="DM Serif Display" pitchFamily="34" charset="0"/>
                <a:ea typeface="DM Serif Display" pitchFamily="34" charset="-122"/>
                <a:cs typeface="DM Serif Display" pitchFamily="34" charset="-120"/>
              </a:rPr>
              <a:t> — with nothing left to figure out alone.</a:t>
            </a:r>
            <a:endParaRPr lang="en-US" sz="3000" dirty="0"/>
          </a:p>
        </p:txBody>
      </p:sp>
      <p:sp>
        <p:nvSpPr>
          <p:cNvPr id="7" name="Text 4"/>
          <p:cNvSpPr/>
          <p:nvPr/>
        </p:nvSpPr>
        <p:spPr>
          <a:xfrm>
            <a:off x="0" y="5349240"/>
            <a:ext cx="12191695" cy="320040"/>
          </a:xfrm>
          <a:prstGeom prst="rect">
            <a:avLst/>
          </a:prstGeom>
          <a:noFill/>
          <a:ln/>
        </p:spPr>
        <p:txBody>
          <a:bodyPr wrap="square" lIns="0" tIns="0" rIns="0" bIns="0" rtlCol="0" anchor="ctr"/>
          <a:lstStyle/>
          <a:p>
            <a:pPr algn="ctr" indent="0" marL="0">
              <a:buNone/>
            </a:pPr>
            <a:r>
              <a:rPr lang="en-US" sz="1200" dirty="0">
                <a:solidFill>
                  <a:srgbClr val="636D78"/>
                </a:solidFill>
                <a:latin typeface="Poppins" pitchFamily="34" charset="0"/>
                <a:ea typeface="Poppins" pitchFamily="34" charset="-122"/>
                <a:cs typeface="Poppins" pitchFamily="34" charset="-120"/>
              </a:rPr>
              <a:t>— the goal behind FYPro</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liv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09 / 10</a:t>
            </a:r>
            <a:endParaRPr lang="en-US" sz="1000" dirty="0"/>
          </a:p>
        </p:txBody>
      </p:sp>
      <p:sp>
        <p:nvSpPr>
          <p:cNvPr id="5" name="Text 2"/>
          <p:cNvSpPr/>
          <p:nvPr/>
        </p:nvSpPr>
        <p:spPr>
          <a:xfrm>
            <a:off x="640080" y="502920"/>
            <a:ext cx="5486400" cy="292608"/>
          </a:xfrm>
          <a:prstGeom prst="rect">
            <a:avLst/>
          </a:prstGeom>
          <a:noFill/>
          <a:ln/>
        </p:spPr>
        <p:txBody>
          <a:bodyPr wrap="square" lIns="0" tIns="0" rIns="0" bIns="0" rtlCol="0" anchor="ctr"/>
          <a:lstStyle/>
          <a:p>
            <a:pPr indent="0" marL="0">
              <a:buNone/>
            </a:pPr>
            <a:r>
              <a:rPr lang="en-US" sz="1100" spc="200" kern="0" dirty="0">
                <a:solidFill>
                  <a:srgbClr val="0066FF"/>
                </a:solidFill>
                <a:latin typeface="JetBrains Mono" pitchFamily="34" charset="0"/>
                <a:ea typeface="JetBrains Mono" pitchFamily="34" charset="-122"/>
                <a:cs typeface="JetBrains Mono" pitchFamily="34" charset="-120"/>
              </a:rPr>
              <a:t>STATUS</a:t>
            </a:r>
            <a:endParaRPr lang="en-US" sz="1100" dirty="0"/>
          </a:p>
        </p:txBody>
      </p:sp>
      <p:sp>
        <p:nvSpPr>
          <p:cNvPr id="6" name="Shape 3"/>
          <p:cNvSpPr/>
          <p:nvPr/>
        </p:nvSpPr>
        <p:spPr>
          <a:xfrm>
            <a:off x="640080" y="841248"/>
            <a:ext cx="2423160" cy="365760"/>
          </a:xfrm>
          <a:prstGeom prst="roundRect">
            <a:avLst>
              <a:gd name="adj" fmla="val 50000"/>
            </a:avLst>
          </a:prstGeom>
          <a:solidFill>
            <a:srgbClr val="F0FFF4"/>
          </a:solidFill>
          <a:ln w="12700">
            <a:solidFill>
              <a:srgbClr val="BEE9CC"/>
            </a:solidFill>
            <a:prstDash val="solid"/>
          </a:ln>
        </p:spPr>
      </p:sp>
      <p:sp>
        <p:nvSpPr>
          <p:cNvPr id="7" name="Text 4"/>
          <p:cNvSpPr/>
          <p:nvPr/>
        </p:nvSpPr>
        <p:spPr>
          <a:xfrm>
            <a:off x="640080" y="841248"/>
            <a:ext cx="2423160" cy="365760"/>
          </a:xfrm>
          <a:prstGeom prst="rect">
            <a:avLst/>
          </a:prstGeom>
          <a:noFill/>
          <a:ln/>
        </p:spPr>
        <p:txBody>
          <a:bodyPr wrap="square" lIns="0" tIns="0" rIns="0" bIns="0" rtlCol="0" anchor="ctr"/>
          <a:lstStyle/>
          <a:p>
            <a:pPr algn="ctr" indent="0" marL="0">
              <a:buNone/>
            </a:pPr>
            <a:r>
              <a:rPr lang="en-US" sz="1050" b="1" dirty="0">
                <a:solidFill>
                  <a:srgbClr val="16A34A"/>
                </a:solidFill>
                <a:latin typeface="JetBrains Mono" pitchFamily="34" charset="0"/>
                <a:ea typeface="JetBrains Mono" pitchFamily="34" charset="-122"/>
                <a:cs typeface="JetBrains Mono" pitchFamily="34" charset="-120"/>
              </a:rPr>
              <a:t>●  LIVE SINCE JUNE 2026</a:t>
            </a:r>
            <a:endParaRPr lang="en-US" sz="1050" dirty="0"/>
          </a:p>
        </p:txBody>
      </p:sp>
      <p:sp>
        <p:nvSpPr>
          <p:cNvPr id="8" name="Text 5"/>
          <p:cNvSpPr/>
          <p:nvPr/>
        </p:nvSpPr>
        <p:spPr>
          <a:xfrm>
            <a:off x="640080" y="1417320"/>
            <a:ext cx="8686800" cy="1280160"/>
          </a:xfrm>
          <a:prstGeom prst="rect">
            <a:avLst/>
          </a:prstGeom>
          <a:noFill/>
          <a:ln/>
        </p:spPr>
        <p:txBody>
          <a:bodyPr wrap="square" lIns="0" tIns="0" rIns="0" bIns="0" rtlCol="0" anchor="ctr"/>
          <a:lstStyle/>
          <a:p>
            <a:pPr indent="0" marL="0">
              <a:lnSpc>
                <a:spcPts val="3200"/>
              </a:lnSpc>
              <a:buNone/>
            </a:pPr>
            <a:r>
              <a:rPr lang="en-US" sz="2700" dirty="0">
                <a:solidFill>
                  <a:srgbClr val="0D1B2A"/>
                </a:solidFill>
                <a:latin typeface="DM Serif Display" pitchFamily="34" charset="0"/>
                <a:ea typeface="DM Serif Display" pitchFamily="34" charset="-122"/>
                <a:cs typeface="DM Serif Display" pitchFamily="34" charset="-120"/>
              </a:rPr>
              <a:t>Live, and already carrying</a:t>
            </a:r>
            <a:endParaRPr lang="en-US" sz="2700" dirty="0"/>
          </a:p>
          <a:p>
            <a:pPr indent="0" marL="0">
              <a:lnSpc>
                <a:spcPts val="3200"/>
              </a:lnSpc>
              <a:buNone/>
            </a:pPr>
            <a:r>
              <a:rPr lang="en-US" sz="2700" dirty="0">
                <a:solidFill>
                  <a:srgbClr val="0D1B2A"/>
                </a:solidFill>
                <a:latin typeface="DM Serif Display" pitchFamily="34" charset="0"/>
                <a:ea typeface="DM Serif Display" pitchFamily="34" charset="-122"/>
                <a:cs typeface="DM Serif Display" pitchFamily="34" charset="-120"/>
              </a:rPr>
              <a:t>students through their projects.</a:t>
            </a:r>
            <a:endParaRPr lang="en-US" sz="2700" dirty="0"/>
          </a:p>
        </p:txBody>
      </p:sp>
      <p:sp>
        <p:nvSpPr>
          <p:cNvPr id="9" name="Shape 6"/>
          <p:cNvSpPr/>
          <p:nvPr/>
        </p:nvSpPr>
        <p:spPr>
          <a:xfrm>
            <a:off x="640080" y="2926080"/>
            <a:ext cx="3502152" cy="658368"/>
          </a:xfrm>
          <a:prstGeom prst="roundRect">
            <a:avLst>
              <a:gd name="adj" fmla="val 12500"/>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pic>
        <p:nvPicPr>
          <p:cNvPr id="10" name="Image 1" descr="/tmp/claude-0/-home-user-FYpro-v2/2a4cd0f7-edb5-5afc-9ccc-ff84acfd346e/scratchpad/pptx-build/icons/icon-check-green.png">    </p:cNvPr>
          <p:cNvPicPr>
            <a:picLocks noChangeAspect="1"/>
          </p:cNvPicPr>
          <p:nvPr/>
        </p:nvPicPr>
        <p:blipFill>
          <a:blip r:embed="rId2"/>
          <a:stretch>
            <a:fillRect/>
          </a:stretch>
        </p:blipFill>
        <p:spPr>
          <a:xfrm>
            <a:off x="841248" y="3136392"/>
            <a:ext cx="237744" cy="237744"/>
          </a:xfrm>
          <a:prstGeom prst="rect">
            <a:avLst/>
          </a:prstGeom>
        </p:spPr>
      </p:pic>
      <p:sp>
        <p:nvSpPr>
          <p:cNvPr id="11" name="Text 7"/>
          <p:cNvSpPr/>
          <p:nvPr/>
        </p:nvSpPr>
        <p:spPr>
          <a:xfrm>
            <a:off x="1170432" y="2926080"/>
            <a:ext cx="2770632" cy="658368"/>
          </a:xfrm>
          <a:prstGeom prst="rect">
            <a:avLst/>
          </a:prstGeom>
          <a:noFill/>
          <a:ln/>
        </p:spPr>
        <p:txBody>
          <a:bodyPr wrap="square" lIns="0" tIns="0" rIns="0" bIns="0" rtlCol="0" anchor="ctr"/>
          <a:lstStyle/>
          <a:p>
            <a:pPr indent="0" marL="0">
              <a:lnSpc>
                <a:spcPts val="1300"/>
              </a:lnSpc>
              <a:buNone/>
            </a:pPr>
            <a:r>
              <a:rPr lang="en-US" sz="1100" dirty="0">
                <a:solidFill>
                  <a:srgbClr val="0D1B2A"/>
                </a:solidFill>
                <a:latin typeface="Poppins Medium" pitchFamily="34" charset="0"/>
                <a:ea typeface="Poppins Medium" pitchFamily="34" charset="-122"/>
                <a:cs typeface="Poppins Medium" pitchFamily="34" charset="-120"/>
              </a:rPr>
              <a:t>Full six-step workflow</a:t>
            </a:r>
            <a:endParaRPr lang="en-US" sz="1100" dirty="0"/>
          </a:p>
        </p:txBody>
      </p:sp>
      <p:sp>
        <p:nvSpPr>
          <p:cNvPr id="12" name="Shape 8"/>
          <p:cNvSpPr/>
          <p:nvPr/>
        </p:nvSpPr>
        <p:spPr>
          <a:xfrm>
            <a:off x="4370832" y="2926080"/>
            <a:ext cx="3502152" cy="658368"/>
          </a:xfrm>
          <a:prstGeom prst="roundRect">
            <a:avLst>
              <a:gd name="adj" fmla="val 12500"/>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pic>
        <p:nvPicPr>
          <p:cNvPr id="13" name="Image 2" descr="/tmp/claude-0/-home-user-FYpro-v2/2a4cd0f7-edb5-5afc-9ccc-ff84acfd346e/scratchpad/pptx-build/icons/icon-check-green.png">    </p:cNvPr>
          <p:cNvPicPr>
            <a:picLocks noChangeAspect="1"/>
          </p:cNvPicPr>
          <p:nvPr/>
        </p:nvPicPr>
        <p:blipFill>
          <a:blip r:embed="rId3"/>
          <a:stretch>
            <a:fillRect/>
          </a:stretch>
        </p:blipFill>
        <p:spPr>
          <a:xfrm>
            <a:off x="4572000" y="3136392"/>
            <a:ext cx="237744" cy="237744"/>
          </a:xfrm>
          <a:prstGeom prst="rect">
            <a:avLst/>
          </a:prstGeom>
        </p:spPr>
      </p:pic>
      <p:sp>
        <p:nvSpPr>
          <p:cNvPr id="14" name="Text 9"/>
          <p:cNvSpPr/>
          <p:nvPr/>
        </p:nvSpPr>
        <p:spPr>
          <a:xfrm>
            <a:off x="4901184" y="2926080"/>
            <a:ext cx="2770632" cy="658368"/>
          </a:xfrm>
          <a:prstGeom prst="rect">
            <a:avLst/>
          </a:prstGeom>
          <a:noFill/>
          <a:ln/>
        </p:spPr>
        <p:txBody>
          <a:bodyPr wrap="square" lIns="0" tIns="0" rIns="0" bIns="0" rtlCol="0" anchor="ctr"/>
          <a:lstStyle/>
          <a:p>
            <a:pPr indent="0" marL="0">
              <a:lnSpc>
                <a:spcPts val="1300"/>
              </a:lnSpc>
              <a:buNone/>
            </a:pPr>
            <a:r>
              <a:rPr lang="en-US" sz="1100" dirty="0">
                <a:solidFill>
                  <a:srgbClr val="0D1B2A"/>
                </a:solidFill>
                <a:latin typeface="Poppins Medium" pitchFamily="34" charset="0"/>
                <a:ea typeface="Poppins Medium" pitchFamily="34" charset="-122"/>
                <a:cs typeface="Poppins Medium" pitchFamily="34" charset="-120"/>
              </a:rPr>
              <a:t>Defense Simulator + certificates</a:t>
            </a:r>
            <a:endParaRPr lang="en-US" sz="1100" dirty="0"/>
          </a:p>
        </p:txBody>
      </p:sp>
      <p:sp>
        <p:nvSpPr>
          <p:cNvPr id="15" name="Shape 10"/>
          <p:cNvSpPr/>
          <p:nvPr/>
        </p:nvSpPr>
        <p:spPr>
          <a:xfrm>
            <a:off x="8101584" y="2926080"/>
            <a:ext cx="3502152" cy="658368"/>
          </a:xfrm>
          <a:prstGeom prst="roundRect">
            <a:avLst>
              <a:gd name="adj" fmla="val 12500"/>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pic>
        <p:nvPicPr>
          <p:cNvPr id="16" name="Image 3" descr="/tmp/claude-0/-home-user-FYpro-v2/2a4cd0f7-edb5-5afc-9ccc-ff84acfd346e/scratchpad/pptx-build/icons/icon-check-green.png">    </p:cNvPr>
          <p:cNvPicPr>
            <a:picLocks noChangeAspect="1"/>
          </p:cNvPicPr>
          <p:nvPr/>
        </p:nvPicPr>
        <p:blipFill>
          <a:blip r:embed="rId4"/>
          <a:stretch>
            <a:fillRect/>
          </a:stretch>
        </p:blipFill>
        <p:spPr>
          <a:xfrm>
            <a:off x="8302752" y="3136392"/>
            <a:ext cx="237744" cy="237744"/>
          </a:xfrm>
          <a:prstGeom prst="rect">
            <a:avLst/>
          </a:prstGeom>
        </p:spPr>
      </p:pic>
      <p:sp>
        <p:nvSpPr>
          <p:cNvPr id="17" name="Text 11"/>
          <p:cNvSpPr/>
          <p:nvPr/>
        </p:nvSpPr>
        <p:spPr>
          <a:xfrm>
            <a:off x="8631936" y="2926080"/>
            <a:ext cx="2770632" cy="658368"/>
          </a:xfrm>
          <a:prstGeom prst="rect">
            <a:avLst/>
          </a:prstGeom>
          <a:noFill/>
          <a:ln/>
        </p:spPr>
        <p:txBody>
          <a:bodyPr wrap="square" lIns="0" tIns="0" rIns="0" bIns="0" rtlCol="0" anchor="ctr"/>
          <a:lstStyle/>
          <a:p>
            <a:pPr indent="0" marL="0">
              <a:lnSpc>
                <a:spcPts val="1300"/>
              </a:lnSpc>
              <a:buNone/>
            </a:pPr>
            <a:r>
              <a:rPr lang="en-US" sz="1100" dirty="0">
                <a:solidFill>
                  <a:srgbClr val="0D1B2A"/>
                </a:solidFill>
                <a:latin typeface="Poppins Medium" pitchFamily="34" charset="0"/>
                <a:ea typeface="Poppins Medium" pitchFamily="34" charset="-122"/>
                <a:cs typeface="Poppins Medium" pitchFamily="34" charset="-120"/>
              </a:rPr>
              <a:t>Literature Map &amp; Abstract Generator</a:t>
            </a:r>
            <a:endParaRPr lang="en-US" sz="1100" dirty="0"/>
          </a:p>
        </p:txBody>
      </p:sp>
      <p:sp>
        <p:nvSpPr>
          <p:cNvPr id="18" name="Shape 12"/>
          <p:cNvSpPr/>
          <p:nvPr/>
        </p:nvSpPr>
        <p:spPr>
          <a:xfrm>
            <a:off x="640080" y="3813048"/>
            <a:ext cx="3502152" cy="658368"/>
          </a:xfrm>
          <a:prstGeom prst="roundRect">
            <a:avLst>
              <a:gd name="adj" fmla="val 12500"/>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pic>
        <p:nvPicPr>
          <p:cNvPr id="19" name="Image 4" descr="/tmp/claude-0/-home-user-FYpro-v2/2a4cd0f7-edb5-5afc-9ccc-ff84acfd346e/scratchpad/pptx-build/icons/icon-check-green.png">    </p:cNvPr>
          <p:cNvPicPr>
            <a:picLocks noChangeAspect="1"/>
          </p:cNvPicPr>
          <p:nvPr/>
        </p:nvPicPr>
        <p:blipFill>
          <a:blip r:embed="rId5"/>
          <a:stretch>
            <a:fillRect/>
          </a:stretch>
        </p:blipFill>
        <p:spPr>
          <a:xfrm>
            <a:off x="841248" y="4023360"/>
            <a:ext cx="237744" cy="237744"/>
          </a:xfrm>
          <a:prstGeom prst="rect">
            <a:avLst/>
          </a:prstGeom>
        </p:spPr>
      </p:pic>
      <p:sp>
        <p:nvSpPr>
          <p:cNvPr id="20" name="Text 13"/>
          <p:cNvSpPr/>
          <p:nvPr/>
        </p:nvSpPr>
        <p:spPr>
          <a:xfrm>
            <a:off x="1170432" y="3813048"/>
            <a:ext cx="2770632" cy="658368"/>
          </a:xfrm>
          <a:prstGeom prst="rect">
            <a:avLst/>
          </a:prstGeom>
          <a:noFill/>
          <a:ln/>
        </p:spPr>
        <p:txBody>
          <a:bodyPr wrap="square" lIns="0" tIns="0" rIns="0" bIns="0" rtlCol="0" anchor="ctr"/>
          <a:lstStyle/>
          <a:p>
            <a:pPr indent="0" marL="0">
              <a:lnSpc>
                <a:spcPts val="1300"/>
              </a:lnSpc>
              <a:buNone/>
            </a:pPr>
            <a:r>
              <a:rPr lang="en-US" sz="1100" dirty="0">
                <a:solidFill>
                  <a:srgbClr val="0D1B2A"/>
                </a:solidFill>
                <a:latin typeface="Poppins Medium" pitchFamily="34" charset="0"/>
                <a:ea typeface="Poppins Medium" pitchFamily="34" charset="-122"/>
                <a:cs typeface="Poppins Medium" pitchFamily="34" charset="-120"/>
              </a:rPr>
              <a:t>Instrument Builder</a:t>
            </a:r>
            <a:endParaRPr lang="en-US" sz="1100" dirty="0"/>
          </a:p>
        </p:txBody>
      </p:sp>
      <p:sp>
        <p:nvSpPr>
          <p:cNvPr id="21" name="Shape 14"/>
          <p:cNvSpPr/>
          <p:nvPr/>
        </p:nvSpPr>
        <p:spPr>
          <a:xfrm>
            <a:off x="4370832" y="3813048"/>
            <a:ext cx="3502152" cy="658368"/>
          </a:xfrm>
          <a:prstGeom prst="roundRect">
            <a:avLst>
              <a:gd name="adj" fmla="val 12500"/>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pic>
        <p:nvPicPr>
          <p:cNvPr id="22" name="Image 5" descr="/tmp/claude-0/-home-user-FYpro-v2/2a4cd0f7-edb5-5afc-9ccc-ff84acfd346e/scratchpad/pptx-build/icons/icon-check-green.png">    </p:cNvPr>
          <p:cNvPicPr>
            <a:picLocks noChangeAspect="1"/>
          </p:cNvPicPr>
          <p:nvPr/>
        </p:nvPicPr>
        <p:blipFill>
          <a:blip r:embed="rId6"/>
          <a:stretch>
            <a:fillRect/>
          </a:stretch>
        </p:blipFill>
        <p:spPr>
          <a:xfrm>
            <a:off x="4572000" y="4023360"/>
            <a:ext cx="237744" cy="237744"/>
          </a:xfrm>
          <a:prstGeom prst="rect">
            <a:avLst/>
          </a:prstGeom>
        </p:spPr>
      </p:pic>
      <p:sp>
        <p:nvSpPr>
          <p:cNvPr id="23" name="Text 15"/>
          <p:cNvSpPr/>
          <p:nvPr/>
        </p:nvSpPr>
        <p:spPr>
          <a:xfrm>
            <a:off x="4901184" y="3813048"/>
            <a:ext cx="2770632" cy="658368"/>
          </a:xfrm>
          <a:prstGeom prst="rect">
            <a:avLst/>
          </a:prstGeom>
          <a:noFill/>
          <a:ln/>
        </p:spPr>
        <p:txBody>
          <a:bodyPr wrap="square" lIns="0" tIns="0" rIns="0" bIns="0" rtlCol="0" anchor="ctr"/>
          <a:lstStyle/>
          <a:p>
            <a:pPr indent="0" marL="0">
              <a:lnSpc>
                <a:spcPts val="1300"/>
              </a:lnSpc>
              <a:buNone/>
            </a:pPr>
            <a:r>
              <a:rPr lang="en-US" sz="1100" dirty="0">
                <a:solidFill>
                  <a:srgbClr val="0D1B2A"/>
                </a:solidFill>
                <a:latin typeface="Poppins Medium" pitchFamily="34" charset="0"/>
                <a:ea typeface="Poppins Medium" pitchFamily="34" charset="-122"/>
                <a:cs typeface="Poppins Medium" pitchFamily="34" charset="-120"/>
              </a:rPr>
              <a:t>Supervisor Meeting Prep</a:t>
            </a:r>
            <a:endParaRPr lang="en-US" sz="1100" dirty="0"/>
          </a:p>
        </p:txBody>
      </p:sp>
      <p:sp>
        <p:nvSpPr>
          <p:cNvPr id="24" name="Shape 16"/>
          <p:cNvSpPr/>
          <p:nvPr/>
        </p:nvSpPr>
        <p:spPr>
          <a:xfrm>
            <a:off x="8101584" y="3813048"/>
            <a:ext cx="3502152" cy="658368"/>
          </a:xfrm>
          <a:prstGeom prst="roundRect">
            <a:avLst>
              <a:gd name="adj" fmla="val 12500"/>
            </a:avLst>
          </a:prstGeom>
          <a:solidFill>
            <a:srgbClr val="FFFFFF"/>
          </a:solidFill>
          <a:ln w="9525">
            <a:solidFill>
              <a:srgbClr val="D9DEE3"/>
            </a:solidFill>
            <a:prstDash val="solid"/>
          </a:ln>
          <a:effectLst>
            <a:outerShdw sx="100000" sy="100000" kx="0" ky="0" algn="bl" rotWithShape="0" blurRad="127000" dist="38100" dir="5400000">
              <a:srgbClr val="0D1B2A">
                <a:alpha val="12000"/>
              </a:srgbClr>
            </a:outerShdw>
          </a:effectLst>
        </p:spPr>
      </p:sp>
      <p:pic>
        <p:nvPicPr>
          <p:cNvPr id="25" name="Image 6" descr="/tmp/claude-0/-home-user-FYpro-v2/2a4cd0f7-edb5-5afc-9ccc-ff84acfd346e/scratchpad/pptx-build/icons/icon-check-green.png">    </p:cNvPr>
          <p:cNvPicPr>
            <a:picLocks noChangeAspect="1"/>
          </p:cNvPicPr>
          <p:nvPr/>
        </p:nvPicPr>
        <p:blipFill>
          <a:blip r:embed="rId7"/>
          <a:stretch>
            <a:fillRect/>
          </a:stretch>
        </p:blipFill>
        <p:spPr>
          <a:xfrm>
            <a:off x="8302752" y="4023360"/>
            <a:ext cx="237744" cy="237744"/>
          </a:xfrm>
          <a:prstGeom prst="rect">
            <a:avLst/>
          </a:prstGeom>
        </p:spPr>
      </p:pic>
      <p:sp>
        <p:nvSpPr>
          <p:cNvPr id="26" name="Text 17"/>
          <p:cNvSpPr/>
          <p:nvPr/>
        </p:nvSpPr>
        <p:spPr>
          <a:xfrm>
            <a:off x="8631936" y="3813048"/>
            <a:ext cx="2770632" cy="658368"/>
          </a:xfrm>
          <a:prstGeom prst="rect">
            <a:avLst/>
          </a:prstGeom>
          <a:noFill/>
          <a:ln/>
        </p:spPr>
        <p:txBody>
          <a:bodyPr wrap="square" lIns="0" tIns="0" rIns="0" bIns="0" rtlCol="0" anchor="ctr"/>
          <a:lstStyle/>
          <a:p>
            <a:pPr indent="0" marL="0">
              <a:lnSpc>
                <a:spcPts val="1300"/>
              </a:lnSpc>
              <a:buNone/>
            </a:pPr>
            <a:r>
              <a:rPr lang="en-US" sz="1100" dirty="0">
                <a:solidFill>
                  <a:srgbClr val="0D1B2A"/>
                </a:solidFill>
                <a:latin typeface="Poppins Medium" pitchFamily="34" charset="0"/>
                <a:ea typeface="Poppins Medium" pitchFamily="34" charset="-122"/>
                <a:cs typeface="Poppins Medium" pitchFamily="34" charset="-120"/>
              </a:rPr>
              <a:t>Multi-project dashboard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4F8"/>
        </a:solidFill>
      </p:bgPr>
    </p:bg>
    <p:spTree>
      <p:nvGrpSpPr>
        <p:cNvPr id="1" name=""/>
        <p:cNvGrpSpPr/>
        <p:nvPr/>
      </p:nvGrpSpPr>
      <p:grpSpPr>
        <a:xfrm>
          <a:off x="0" y="0"/>
          <a:ext cx="0" cy="0"/>
          <a:chOff x="0" y="0"/>
          <a:chExt cx="0" cy="0"/>
        </a:xfrm>
      </p:grpSpPr>
      <p:pic>
        <p:nvPicPr>
          <p:cNvPr id="2" name="Image 0" descr="/tmp/claude-0/-home-user-FYpro-v2/2a4cd0f7-edb5-5afc-9ccc-ff84acfd346e/scratchpad/pptx-build/photos/bg-cta.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0F4F8">
              <a:alpha val="58000"/>
            </a:srgbClr>
          </a:solidFill>
          <a:ln/>
        </p:spPr>
      </p:sp>
      <p:sp>
        <p:nvSpPr>
          <p:cNvPr id="4" name="Text 1"/>
          <p:cNvSpPr/>
          <p:nvPr/>
        </p:nvSpPr>
        <p:spPr>
          <a:xfrm>
            <a:off x="10180015" y="384048"/>
            <a:ext cx="1371600" cy="274320"/>
          </a:xfrm>
          <a:prstGeom prst="rect">
            <a:avLst/>
          </a:prstGeom>
          <a:noFill/>
          <a:ln/>
        </p:spPr>
        <p:txBody>
          <a:bodyPr wrap="square" lIns="0" tIns="0" rIns="0" bIns="0" rtlCol="0" anchor="ctr"/>
          <a:lstStyle/>
          <a:p>
            <a:pPr algn="r" indent="0" marL="0">
              <a:buNone/>
            </a:pPr>
            <a:r>
              <a:rPr lang="en-US" sz="1000" dirty="0">
                <a:solidFill>
                  <a:srgbClr val="9199A1"/>
                </a:solidFill>
                <a:latin typeface="JetBrains Mono" pitchFamily="34" charset="0"/>
                <a:ea typeface="JetBrains Mono" pitchFamily="34" charset="-122"/>
                <a:cs typeface="JetBrains Mono" pitchFamily="34" charset="-120"/>
              </a:rPr>
              <a:t>10 / 10</a:t>
            </a:r>
            <a:endParaRPr lang="en-US" sz="1000" dirty="0"/>
          </a:p>
        </p:txBody>
      </p:sp>
      <p:pic>
        <p:nvPicPr>
          <p:cNvPr id="5" name="Image 1" descr="/tmp/claude-0/-home-user-FYpro-v2/2a4cd0f7-edb5-5afc-9ccc-ff84acfd346e/scratchpad/pptx-build/icons/shield-blue-512.png">    </p:cNvPr>
          <p:cNvPicPr>
            <a:picLocks noChangeAspect="1"/>
          </p:cNvPicPr>
          <p:nvPr/>
        </p:nvPicPr>
        <p:blipFill>
          <a:blip r:embed="rId2"/>
          <a:stretch>
            <a:fillRect/>
          </a:stretch>
        </p:blipFill>
        <p:spPr>
          <a:xfrm>
            <a:off x="4221328" y="502920"/>
            <a:ext cx="365760" cy="365760"/>
          </a:xfrm>
          <a:prstGeom prst="rect">
            <a:avLst/>
          </a:prstGeom>
        </p:spPr>
      </p:pic>
      <p:sp>
        <p:nvSpPr>
          <p:cNvPr id="6" name="Text 2"/>
          <p:cNvSpPr/>
          <p:nvPr/>
        </p:nvSpPr>
        <p:spPr>
          <a:xfrm>
            <a:off x="4678528" y="457200"/>
            <a:ext cx="1280160" cy="457200"/>
          </a:xfrm>
          <a:prstGeom prst="rect">
            <a:avLst/>
          </a:prstGeom>
          <a:noFill/>
          <a:ln/>
        </p:spPr>
        <p:txBody>
          <a:bodyPr wrap="square" lIns="0" tIns="0" rIns="0" bIns="0" rtlCol="0" anchor="ctr"/>
          <a:lstStyle/>
          <a:p>
            <a:pPr indent="0" marL="0">
              <a:buNone/>
            </a:pPr>
            <a:r>
              <a:rPr lang="en-US" sz="2000" dirty="0">
                <a:solidFill>
                  <a:srgbClr val="0D1B2A"/>
                </a:solidFill>
                <a:latin typeface="DM Serif Display" pitchFamily="34" charset="0"/>
                <a:ea typeface="DM Serif Display" pitchFamily="34" charset="-122"/>
                <a:cs typeface="DM Serif Display" pitchFamily="34" charset="-120"/>
              </a:rPr>
              <a:t>FY</a:t>
            </a:r>
            <a:pPr indent="0" marL="0">
              <a:buNone/>
            </a:pPr>
            <a:r>
              <a:rPr lang="en-US" sz="2000" dirty="0">
                <a:solidFill>
                  <a:srgbClr val="0066FF"/>
                </a:solidFill>
                <a:latin typeface="DM Serif Display" pitchFamily="34" charset="0"/>
                <a:ea typeface="DM Serif Display" pitchFamily="34" charset="-122"/>
                <a:cs typeface="DM Serif Display" pitchFamily="34" charset="-120"/>
              </a:rPr>
              <a:t>Pro</a:t>
            </a:r>
            <a:endParaRPr lang="en-US" sz="2000" dirty="0"/>
          </a:p>
        </p:txBody>
      </p:sp>
      <p:sp>
        <p:nvSpPr>
          <p:cNvPr id="7" name="Text 3"/>
          <p:cNvSpPr/>
          <p:nvPr/>
        </p:nvSpPr>
        <p:spPr>
          <a:xfrm>
            <a:off x="1523848" y="1097280"/>
            <a:ext cx="9144000" cy="777240"/>
          </a:xfrm>
          <a:prstGeom prst="rect">
            <a:avLst/>
          </a:prstGeom>
          <a:noFill/>
          <a:ln/>
        </p:spPr>
        <p:txBody>
          <a:bodyPr wrap="square" lIns="0" tIns="0" rIns="0" bIns="0" rtlCol="0" anchor="ctr"/>
          <a:lstStyle/>
          <a:p>
            <a:pPr algn="ctr" indent="0" marL="0">
              <a:buNone/>
            </a:pPr>
            <a:r>
              <a:rPr lang="en-US" sz="3200" dirty="0">
                <a:solidFill>
                  <a:srgbClr val="0D1B2A"/>
                </a:solidFill>
                <a:latin typeface="DM Serif Display" pitchFamily="34" charset="0"/>
                <a:ea typeface="DM Serif Display" pitchFamily="34" charset="-122"/>
                <a:cs typeface="DM Serif Display" pitchFamily="34" charset="-120"/>
              </a:rPr>
              <a:t>Walk into your defense ready.</a:t>
            </a:r>
            <a:endParaRPr lang="en-US" sz="3200" dirty="0"/>
          </a:p>
        </p:txBody>
      </p:sp>
      <p:sp>
        <p:nvSpPr>
          <p:cNvPr id="8" name="Text 4"/>
          <p:cNvSpPr/>
          <p:nvPr/>
        </p:nvSpPr>
        <p:spPr>
          <a:xfrm>
            <a:off x="2712568" y="1874520"/>
            <a:ext cx="6766560" cy="685800"/>
          </a:xfrm>
          <a:prstGeom prst="rect">
            <a:avLst/>
          </a:prstGeom>
          <a:noFill/>
          <a:ln/>
        </p:spPr>
        <p:txBody>
          <a:bodyPr wrap="square" lIns="0" tIns="0" rIns="0" bIns="0" rtlCol="0" anchor="ctr"/>
          <a:lstStyle/>
          <a:p>
            <a:pPr algn="ctr" indent="0" marL="0">
              <a:lnSpc>
                <a:spcPts val="1800"/>
              </a:lnSpc>
              <a:buNone/>
            </a:pPr>
            <a:r>
              <a:rPr lang="en-US" sz="1250" dirty="0">
                <a:solidFill>
                  <a:srgbClr val="636D78"/>
                </a:solidFill>
                <a:latin typeface="Poppins" pitchFamily="34" charset="0"/>
                <a:ea typeface="Poppins" pitchFamily="34" charset="-122"/>
                <a:cs typeface="Poppins" pitchFamily="34" charset="-120"/>
              </a:rPr>
              <a:t>From your first topic idea, through every chapter, to the last question in the room — FYPro is with you the whole way.</a:t>
            </a:r>
            <a:endParaRPr lang="en-US" sz="1250" dirty="0"/>
          </a:p>
        </p:txBody>
      </p:sp>
      <p:sp>
        <p:nvSpPr>
          <p:cNvPr id="9" name="Shape 5"/>
          <p:cNvSpPr/>
          <p:nvPr/>
        </p:nvSpPr>
        <p:spPr>
          <a:xfrm>
            <a:off x="5154016" y="2532888"/>
            <a:ext cx="1883664" cy="1883664"/>
          </a:xfrm>
          <a:prstGeom prst="roundRect">
            <a:avLst>
              <a:gd name="adj" fmla="val 4854"/>
            </a:avLst>
          </a:prstGeom>
          <a:solidFill>
            <a:srgbClr val="FFFFFF"/>
          </a:solidFill>
          <a:ln w="12700">
            <a:solidFill>
              <a:srgbClr val="D9DEE3"/>
            </a:solidFill>
            <a:prstDash val="solid"/>
          </a:ln>
          <a:effectLst>
            <a:outerShdw sx="100000" sy="100000" kx="0" ky="0" algn="bl" rotWithShape="0" blurRad="127000" dist="38100" dir="5400000">
              <a:srgbClr val="0D1B2A">
                <a:alpha val="12000"/>
              </a:srgbClr>
            </a:outerShdw>
          </a:effectLst>
        </p:spPr>
      </p:sp>
      <p:pic>
        <p:nvPicPr>
          <p:cNvPr id="10" name="Image 2" descr="/tmp/claude-0/-home-user-FYpro-v2/2a4cd0f7-edb5-5afc-9ccc-ff84acfd346e/scratchpad/pptx-build/icons/qr-code.png">    </p:cNvPr>
          <p:cNvPicPr>
            <a:picLocks noChangeAspect="1"/>
          </p:cNvPicPr>
          <p:nvPr/>
        </p:nvPicPr>
        <p:blipFill>
          <a:blip r:embed="rId3"/>
          <a:stretch>
            <a:fillRect/>
          </a:stretch>
        </p:blipFill>
        <p:spPr>
          <a:xfrm>
            <a:off x="5318608" y="2697480"/>
            <a:ext cx="1554480" cy="1554480"/>
          </a:xfrm>
          <a:prstGeom prst="rect">
            <a:avLst/>
          </a:prstGeom>
        </p:spPr>
      </p:pic>
      <p:sp>
        <p:nvSpPr>
          <p:cNvPr id="11" name="Text 6"/>
          <p:cNvSpPr/>
          <p:nvPr/>
        </p:nvSpPr>
        <p:spPr>
          <a:xfrm>
            <a:off x="4724248" y="4507992"/>
            <a:ext cx="2743200" cy="274320"/>
          </a:xfrm>
          <a:prstGeom prst="rect">
            <a:avLst/>
          </a:prstGeom>
          <a:noFill/>
          <a:ln/>
        </p:spPr>
        <p:txBody>
          <a:bodyPr wrap="square" lIns="0" tIns="0" rIns="0" bIns="0" rtlCol="0" anchor="ctr"/>
          <a:lstStyle/>
          <a:p>
            <a:pPr algn="ctr" indent="0" marL="0">
              <a:buNone/>
            </a:pPr>
            <a:r>
              <a:rPr lang="en-US" sz="900" spc="150" kern="0" dirty="0">
                <a:solidFill>
                  <a:srgbClr val="9199A1"/>
                </a:solidFill>
                <a:latin typeface="JetBrains Mono" pitchFamily="34" charset="0"/>
                <a:ea typeface="JetBrains Mono" pitchFamily="34" charset="-122"/>
                <a:cs typeface="JetBrains Mono" pitchFamily="34" charset="-120"/>
              </a:rPr>
              <a:t>SCAN TO START</a:t>
            </a:r>
            <a:endParaRPr lang="en-US" sz="900" dirty="0"/>
          </a:p>
        </p:txBody>
      </p:sp>
      <p:sp>
        <p:nvSpPr>
          <p:cNvPr id="12" name="Shape 7"/>
          <p:cNvSpPr/>
          <p:nvPr/>
        </p:nvSpPr>
        <p:spPr>
          <a:xfrm>
            <a:off x="4061308" y="5440680"/>
            <a:ext cx="1554480" cy="475488"/>
          </a:xfrm>
          <a:prstGeom prst="roundRect">
            <a:avLst>
              <a:gd name="adj" fmla="val 19231"/>
            </a:avLst>
          </a:prstGeom>
          <a:solidFill>
            <a:srgbClr val="16A34A"/>
          </a:solidFill>
          <a:ln/>
        </p:spPr>
      </p:sp>
      <p:sp>
        <p:nvSpPr>
          <p:cNvPr id="13" name="Text 8"/>
          <p:cNvSpPr/>
          <p:nvPr/>
        </p:nvSpPr>
        <p:spPr>
          <a:xfrm>
            <a:off x="4061308" y="5440680"/>
            <a:ext cx="1554480" cy="475488"/>
          </a:xfrm>
          <a:prstGeom prst="rect">
            <a:avLst/>
          </a:prstGeom>
          <a:noFill/>
          <a:ln/>
        </p:spPr>
        <p:txBody>
          <a:bodyPr wrap="square" lIns="0" tIns="0" rIns="0" bIns="0" rtlCol="0" anchor="ctr"/>
          <a:lstStyle/>
          <a:p>
            <a:pPr algn="ctr" indent="0" marL="0">
              <a:buNone/>
            </a:pPr>
            <a:r>
              <a:rPr lang="en-US" sz="1250" dirty="0">
                <a:solidFill>
                  <a:srgbClr val="FFFFFF"/>
                </a:solidFill>
                <a:latin typeface="Poppins SemiBold" pitchFamily="34" charset="0"/>
                <a:ea typeface="Poppins SemiBold" pitchFamily="34" charset="-122"/>
                <a:cs typeface="Poppins SemiBold" pitchFamily="34" charset="-120"/>
              </a:rPr>
              <a:t>Try FYPro</a:t>
            </a:r>
            <a:endParaRPr lang="en-US" sz="1250" dirty="0"/>
          </a:p>
        </p:txBody>
      </p:sp>
      <p:sp>
        <p:nvSpPr>
          <p:cNvPr id="14" name="Shape 9"/>
          <p:cNvSpPr/>
          <p:nvPr/>
        </p:nvSpPr>
        <p:spPr>
          <a:xfrm>
            <a:off x="5844388" y="5440680"/>
            <a:ext cx="2286000" cy="475488"/>
          </a:xfrm>
          <a:prstGeom prst="roundRect">
            <a:avLst>
              <a:gd name="adj" fmla="val 19231"/>
            </a:avLst>
          </a:prstGeom>
          <a:solidFill>
            <a:srgbClr val="F0F4F8"/>
          </a:solidFill>
          <a:ln w="15875">
            <a:solidFill>
              <a:srgbClr val="D9DEE3"/>
            </a:solidFill>
            <a:prstDash val="solid"/>
          </a:ln>
        </p:spPr>
      </p:sp>
      <p:sp>
        <p:nvSpPr>
          <p:cNvPr id="15" name="Text 10"/>
          <p:cNvSpPr/>
          <p:nvPr/>
        </p:nvSpPr>
        <p:spPr>
          <a:xfrm>
            <a:off x="5844388" y="5440680"/>
            <a:ext cx="2286000" cy="475488"/>
          </a:xfrm>
          <a:prstGeom prst="rect">
            <a:avLst/>
          </a:prstGeom>
          <a:noFill/>
          <a:ln/>
        </p:spPr>
        <p:txBody>
          <a:bodyPr wrap="square" lIns="0" tIns="0" rIns="0" bIns="0" rtlCol="0" anchor="ctr"/>
          <a:lstStyle/>
          <a:p>
            <a:pPr algn="ctr" indent="0" marL="0">
              <a:buNone/>
            </a:pPr>
            <a:r>
              <a:rPr lang="en-US" sz="1150" b="1" dirty="0">
                <a:solidFill>
                  <a:srgbClr val="0D1B2A"/>
                </a:solidFill>
                <a:latin typeface="JetBrains Mono" pitchFamily="34" charset="0"/>
                <a:ea typeface="JetBrains Mono" pitchFamily="34" charset="-122"/>
                <a:cs typeface="JetBrains Mono" pitchFamily="34" charset="-120"/>
              </a:rPr>
              <a:t>www.fypro.com.ng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FYPro — Your Final Year Companion</dc:title>
  <dc:subject>PptxGenJS Presentation</dc:subject>
  <dc:creator>FYPro</dc:creator>
  <cp:lastModifiedBy>FYPro</cp:lastModifiedBy>
  <cp:revision>1</cp:revision>
  <dcterms:created xsi:type="dcterms:W3CDTF">2026-07-20T13:25:26Z</dcterms:created>
  <dcterms:modified xsi:type="dcterms:W3CDTF">2026-07-20T13:25:26Z</dcterms:modified>
</cp:coreProperties>
</file>